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2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ba19fbe0e774a4c" /><Relationship Type="http://schemas.openxmlformats.org/officeDocument/2006/relationships/extended-properties" Target="/docProps/app.xml" Id="R685d04acdf3a4709" /><Relationship Type="http://schemas.openxmlformats.org/officeDocument/2006/relationships/officeDocument" Target="/ppt/presentation.xml" Id="Rc03f1cce5eca443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a56d293273b4f63"/>
  </p:sldMasterIdLst>
  <p:notesMasterIdLst>
    <p:notesMasterId xmlns:r="http://schemas.openxmlformats.org/officeDocument/2006/relationships" r:id="Rc75917b804464fc8"/>
  </p:notesMasterIdLst>
  <p:sldIdLst>
    <p:sldId xmlns:r="http://schemas.openxmlformats.org/officeDocument/2006/relationships" id="256" r:id="Rbbc125346d294c29"/>
    <p:sldId xmlns:r="http://schemas.openxmlformats.org/officeDocument/2006/relationships" id="257" r:id="R8b690b8d2f3b45c6"/>
    <p:sldId xmlns:r="http://schemas.openxmlformats.org/officeDocument/2006/relationships" id="258" r:id="Rf1d019bac1484270"/>
    <p:sldId xmlns:r="http://schemas.openxmlformats.org/officeDocument/2006/relationships" id="259" r:id="R537365bba12e49e7"/>
    <p:sldId xmlns:r="http://schemas.openxmlformats.org/officeDocument/2006/relationships" id="260" r:id="R7c9614a1b5d94a56"/>
    <p:sldId xmlns:r="http://schemas.openxmlformats.org/officeDocument/2006/relationships" id="261" r:id="Ra7eb158834a944ce"/>
    <p:sldId xmlns:r="http://schemas.openxmlformats.org/officeDocument/2006/relationships" id="262" r:id="Re98968a69bbb4f95"/>
    <p:sldId xmlns:r="http://schemas.openxmlformats.org/officeDocument/2006/relationships" id="263" r:id="Rb9de20a0b31645cf"/>
    <p:sldId xmlns:r="http://schemas.openxmlformats.org/officeDocument/2006/relationships" id="264" r:id="R095ce28b70294434"/>
    <p:sldId xmlns:r="http://schemas.openxmlformats.org/officeDocument/2006/relationships" id="265" r:id="Rdb5b8a30a51f4653"/>
    <p:sldId xmlns:r="http://schemas.openxmlformats.org/officeDocument/2006/relationships" id="266" r:id="R01f28098944d456a"/>
    <p:sldId xmlns:r="http://schemas.openxmlformats.org/officeDocument/2006/relationships" id="267" r:id="R1bd9c9ad153d435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2db46d3016f4142" /><Relationship Type="http://schemas.openxmlformats.org/officeDocument/2006/relationships/slideMaster" Target="/ppt/slideMasters/slideMaster1.xml" Id="R7a56d293273b4f63" /><Relationship Type="http://schemas.openxmlformats.org/officeDocument/2006/relationships/notesMaster" Target="/ppt/notesMasters/notesMaster1.xml" Id="Rc75917b804464fc8" /><Relationship Type="http://schemas.openxmlformats.org/officeDocument/2006/relationships/presProps" Target="/ppt/presProps.xml" Id="R5da037e440d4447b" /><Relationship Type="http://schemas.openxmlformats.org/officeDocument/2006/relationships/tableStyles" Target="/ppt/tableStyles.xml" Id="R4b824ba51ccb4be2" /><Relationship Type="http://schemas.openxmlformats.org/officeDocument/2006/relationships/slide" Target="/ppt/slides/slide1.xml" Id="Rbbc125346d294c29" /><Relationship Type="http://schemas.openxmlformats.org/officeDocument/2006/relationships/slide" Target="/ppt/slides/slide2.xml" Id="R8b690b8d2f3b45c6" /><Relationship Type="http://schemas.openxmlformats.org/officeDocument/2006/relationships/slide" Target="/ppt/slides/slide3.xml" Id="Rf1d019bac1484270" /><Relationship Type="http://schemas.openxmlformats.org/officeDocument/2006/relationships/slide" Target="/ppt/slides/slide4.xml" Id="R537365bba12e49e7" /><Relationship Type="http://schemas.openxmlformats.org/officeDocument/2006/relationships/slide" Target="/ppt/slides/slide5.xml" Id="R7c9614a1b5d94a56" /><Relationship Type="http://schemas.openxmlformats.org/officeDocument/2006/relationships/slide" Target="/ppt/slides/slide6.xml" Id="Ra7eb158834a944ce" /><Relationship Type="http://schemas.openxmlformats.org/officeDocument/2006/relationships/slide" Target="/ppt/slides/slide7.xml" Id="Re98968a69bbb4f95" /><Relationship Type="http://schemas.openxmlformats.org/officeDocument/2006/relationships/slide" Target="/ppt/slides/slide8.xml" Id="Rb9de20a0b31645cf" /><Relationship Type="http://schemas.openxmlformats.org/officeDocument/2006/relationships/slide" Target="/ppt/slides/slide9.xml" Id="R095ce28b70294434" /><Relationship Type="http://schemas.openxmlformats.org/officeDocument/2006/relationships/slide" Target="/ppt/slides/slide10.xml" Id="Rdb5b8a30a51f4653" /><Relationship Type="http://schemas.openxmlformats.org/officeDocument/2006/relationships/slide" Target="/ppt/slides/slide11.xml" Id="R01f28098944d456a" /><Relationship Type="http://schemas.openxmlformats.org/officeDocument/2006/relationships/slide" Target="/ppt/slides/slide12.xml" Id="R1bd9c9ad153d435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876c8289dde431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52151a34f554a7d" /><Relationship Type="http://schemas.openxmlformats.org/officeDocument/2006/relationships/notesMaster" Target="/ppt/notesMasters/notesMaster1.xml" Id="R19857bd99ddc4bc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c6643a5a63f4271" /><Relationship Type="http://schemas.openxmlformats.org/officeDocument/2006/relationships/notesMaster" Target="/ppt/notesMasters/notesMaster1.xml" Id="Rabbff0140475421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ef9343425a34db6" /><Relationship Type="http://schemas.openxmlformats.org/officeDocument/2006/relationships/notesMaster" Target="/ppt/notesMasters/notesMaster1.xml" Id="R30f11fb4216e4f0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049c8e8484442a6" /><Relationship Type="http://schemas.openxmlformats.org/officeDocument/2006/relationships/notesMaster" Target="/ppt/notesMasters/notesMaster1.xml" Id="R308ca1ecbafb48d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b96b81e2a8c4701" /><Relationship Type="http://schemas.openxmlformats.org/officeDocument/2006/relationships/notesMaster" Target="/ppt/notesMasters/notesMaster1.xml" Id="Rd7041ef4cc4a414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ea4eb82ec974c71" /><Relationship Type="http://schemas.openxmlformats.org/officeDocument/2006/relationships/notesMaster" Target="/ppt/notesMasters/notesMaster1.xml" Id="Re1d00220e51c462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c0a8f5922dc4416" /><Relationship Type="http://schemas.openxmlformats.org/officeDocument/2006/relationships/notesMaster" Target="/ppt/notesMasters/notesMaster1.xml" Id="R30e31559fd0d401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f05cfd4036442e5" /><Relationship Type="http://schemas.openxmlformats.org/officeDocument/2006/relationships/notesMaster" Target="/ppt/notesMasters/notesMaster1.xml" Id="R1090333420ed484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05ffd928ea24658" /><Relationship Type="http://schemas.openxmlformats.org/officeDocument/2006/relationships/notesMaster" Target="/ppt/notesMasters/notesMaster1.xml" Id="Re90c542800c74d8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ac55bbd21984341" /><Relationship Type="http://schemas.openxmlformats.org/officeDocument/2006/relationships/notesMaster" Target="/ppt/notesMasters/notesMaster1.xml" Id="R44578393660d4cd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163d295eb604be6" /><Relationship Type="http://schemas.openxmlformats.org/officeDocument/2006/relationships/notesMaster" Target="/ppt/notesMasters/notesMaster1.xml" Id="R79c32f80691e420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1a54ab441864a49" /><Relationship Type="http://schemas.openxmlformats.org/officeDocument/2006/relationships/notesMaster" Target="/ppt/notesMasters/notesMaster1.xml" Id="R0c0069a856e346f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customer outcome: the system helps an analyst decide which US airport deserves the next diligence step.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Set the boundary early. The product does not claim terminal ROI or prove the terminal is the binding constraint.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terminal expansion can fail economically even when passenger growth is real. The pressure may come from runway capacity, airspace, weather, operating agreements, or airline economics.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three-gate framing converts a broad AI request into a bounded product decision. Gate 1 generates defensible leads. Gate 2 tests the bottleneck. Gate 3 underwrites incremental returns.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DESIGN.md, section 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screenshot to orient the audience before opening the live product.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browser keeps rendered turns in the current tab. SQLite retains only typed follow-up slots for 24 hours, not full chat history.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question examples are probes for generic capabilities. The implementation is not hardcoded to the brief's airports.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Coverage counts: 1,005 US airports in the registry; 712 airports with FAA TAF outlook; 635 origins with T-100 route coverage; 354 airports with delay coverage; 226 airports eligible for the screening score.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counts describe the installed snapshot, not daily freshness. The product refuses to substitute a different metric when coverage is missing.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served product coverage panel and DESIGN.md, section 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Growth gets the largest weight because momentum is the primary opportunity signal. Scale is nearly as important because investors monetize volume. Utilization receives the lowest weight because it is only a proxy for service pressure.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Growth and utilization are percentiled within size cohorts. Incremental passengers are percentiled nationally. CAGR is clamped to plus or minus 20 percent before scoring.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weights are a documented prior, not a fitted truth. Historical deal outcomes would support learning the weights later.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DESIGN.md, section 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sensitivity varies the growth weight from 0.30 to 0.50, keeps scale at 0.35, and assigns the remaining weight to utilization.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PDX remains first in every run. Four of the top five airports remain in the top five. This tests robustness, but it does not prove the weights are optimal.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UI does not yet expose the sensitivity view. The calculation and tests already exist.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LLM receives the question, a typed summary of prior context, and the JSON schema. It never receives the data tables or tool output.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server validates the full proposal, resolves entities against the US registry, maps metrics to allowed operations, and rejects malformed or ungrounded plans as a whole.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the model is unavailable or the proposal fails validation, a narrow keyword planner runs and the trace labels the fallback.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DESIGN.md, section 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partial answer preserves valid evidence instead of discarding it. For example, a comparison can keep passenger growth while naming a missing delay series.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Demand pressure is partial by design because public sources do not measure turned-away passengers. The answer separates observed facts, analyst-set scenarios, and bottleneck hypotheses.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Unsupported qualifiers are rejected or flagged rather than silently ignored.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Each source import creates a run keyed by source, retrieval time, period and content checksum. Data rows carry run_id. active_source_runs selects the published version.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importer validates a complete candidate, then switches the active pointer in one transaction. A failed refresh keeps the last-good run.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SQLite fits a single-node take-home: zero service setup, inspectable relational facts, atomic writes and restart continuity. Revisit Postgres when multi-instance writes or remote retention controls appear.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DESIGN.md, section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US-only scope matches the investment mandate and avoids spending the time budget on global entity resolution.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keyword fallback is intentionally narrow. It asks for a simpler phrasing when it cannot resolve safely.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second model provider sits behind a small interface, but provider selection is configuration rather than a user-facing feature.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DESIGN.md, section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deterministic evaluator runs 16 predeclared cases against both the bootstrap snapshot and the full served dataset. All 32 case runs pass every applicable check.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live model runs improved from 3 to 12 to 15 correct plans, then 14 on a stability rerun. The smoke gate requires 13. Median end-to-end latency is 0.97 seconds and the maximum is 1.76 seconds.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Fixes changed the system, not the expected labels: add a metric glossary, let the server derive operations from metrics, and reject empty plans so the bounded fallback can run.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Four runs are a smoke test, not an accuracy estimate. Next step: paraphrase variants and repeated trials.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EVALUATION.md, generated 2026-10-11.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the business hypothesis: reduce time to a defensible shortlist while maintaining zero unsupported terminal-constraint or profit claims.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Pilot the tool in shadow mode against the current manual workflow. Measure time to shortlist, analyst correction rate, and how often users misread a high opportunity score as proof of a terminal bottleneck.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most valuable next data addition is verified FAA CATS revenue context. The most important deployment addition is authentication and rate limiting.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Current automated verification: 265 unit tests plus the 32 deterministic evaluation runs reported in README.md and EVALUATION.md.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e6233820554ff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2612376994405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24e5a6c0b14bf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a8698681b640b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0643c0c7b645b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5ba1dfb82a41a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EE4ACE6-3363-41A2-ACAA-378F31B16F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FB34C7C-B6D7-47BE-9714-CC00C81E1BD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E17BA66-CEE2-466B-994A-7CF077D92C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DE61502-1A47-4D36-BB12-EB15290076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6D22048-D2DF-49A2-869E-F59BFA92470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D1ED3FE-28C5-4063-927B-245063C9E0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455092B-E8BC-41D8-B8FC-323F543CA13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ABCC742-2D29-4377-BA2B-D3EA21AA0E9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E2976A7-6C5B-4F9F-B105-720D61BEDF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E6A9464-5870-421A-B768-31A4A30B4B7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336e8c9301e42ab" /><Relationship Type="http://schemas.openxmlformats.org/officeDocument/2006/relationships/slideLayout" Target="/ppt/slideLayouts/slideLayout1.xml" Id="R47e8d0a58e7d4d06" /><Relationship Type="http://schemas.openxmlformats.org/officeDocument/2006/relationships/slideLayout" Target="/ppt/slideLayouts/slideLayout2.xml" Id="Rc4c278af50d648d0" /><Relationship Type="http://schemas.openxmlformats.org/officeDocument/2006/relationships/slideLayout" Target="/ppt/slideLayouts/slideLayout3.xml" Id="Rde9221836d374a39" /><Relationship Type="http://schemas.openxmlformats.org/officeDocument/2006/relationships/slideLayout" Target="/ppt/slideLayouts/slideLayout4.xml" Id="Rd505c253cbb94c79" /><Relationship Type="http://schemas.openxmlformats.org/officeDocument/2006/relationships/slideLayout" Target="/ppt/slideLayouts/slideLayout5.xml" Id="R9e0efcdc3d114b34" /><Relationship Type="http://schemas.openxmlformats.org/officeDocument/2006/relationships/slideLayout" Target="/ppt/slideLayouts/slideLayout6.xml" Id="R76d8110bcd2f45f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7e8d0a58e7d4d06"/>
    <p:sldLayoutId xmlns:r="http://schemas.openxmlformats.org/officeDocument/2006/relationships" id="2147483650" r:id="Rc4c278af50d648d0"/>
    <p:sldLayoutId xmlns:r="http://schemas.openxmlformats.org/officeDocument/2006/relationships" id="2147483651" r:id="Rde9221836d374a39"/>
    <p:sldLayoutId xmlns:r="http://schemas.openxmlformats.org/officeDocument/2006/relationships" id="2147483652" r:id="Rd505c253cbb94c79"/>
    <p:sldLayoutId xmlns:r="http://schemas.openxmlformats.org/officeDocument/2006/relationships" id="2147483653" r:id="R9e0efcdc3d114b34"/>
    <p:sldLayoutId xmlns:r="http://schemas.openxmlformats.org/officeDocument/2006/relationships" id="2147483654" r:id="R76d8110bcd2f45f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ce2ec3fe1740db" /><Relationship Type="http://schemas.openxmlformats.org/officeDocument/2006/relationships/image" Target="/ppt/media/image.png" Id="Ree390fad6beb4a72" /><Relationship Type="http://schemas.openxmlformats.org/officeDocument/2006/relationships/notesSlide" Target="/ppt/notesSlides/notesSlide1.xml" Id="R9aeea1c4bf6344a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0bc14533ae492b" /><Relationship Type="http://schemas.openxmlformats.org/officeDocument/2006/relationships/notesSlide" Target="/ppt/notesSlides/notesSlide2.xml" Id="R07bb88bff3bd48f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9d26df06f0420a" /><Relationship Type="http://schemas.openxmlformats.org/officeDocument/2006/relationships/image" Target="/ppt/media/image2.png" Id="Rc191b4aa0a944c34" /><Relationship Type="http://schemas.openxmlformats.org/officeDocument/2006/relationships/notesSlide" Target="/ppt/notesSlides/notesSlide3.xml" Id="Rc2ef7a9ba0064b9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54c9084adc444c" /><Relationship Type="http://schemas.openxmlformats.org/officeDocument/2006/relationships/chart" Target="/ppt/slides/charts/chart1.xml" Id="R7ae1904a94504d94" /><Relationship Type="http://schemas.openxmlformats.org/officeDocument/2006/relationships/notesSlide" Target="/ppt/notesSlides/notesSlide4.xml" Id="Rfedca8973d97468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782230f5344e3b" /><Relationship Type="http://schemas.openxmlformats.org/officeDocument/2006/relationships/notesSlide" Target="/ppt/notesSlides/notesSlide5.xml" Id="R854a469d3fc24a9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0d5271c42649a6" /><Relationship Type="http://schemas.openxmlformats.org/officeDocument/2006/relationships/notesSlide" Target="/ppt/notesSlides/notesSlide6.xml" Id="Rf4196e5d46fb4b5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ec413b88e74d0c" /><Relationship Type="http://schemas.openxmlformats.org/officeDocument/2006/relationships/notesSlide" Target="/ppt/notesSlides/notesSlide7.xml" Id="Rc50f0df21892404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53881b52024abd" /><Relationship Type="http://schemas.openxmlformats.org/officeDocument/2006/relationships/notesSlide" Target="/ppt/notesSlides/notesSlide8.xml" Id="R594cfbee8850402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0cd7a5a3094dd6" /><Relationship Type="http://schemas.openxmlformats.org/officeDocument/2006/relationships/notesSlide" Target="/ppt/notesSlides/notesSlide9.xml" Id="Rc9f8ff746de7469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b04b582ba34ccd" /><Relationship Type="http://schemas.openxmlformats.org/officeDocument/2006/relationships/notesSlide" Target="/ppt/notesSlides/notesSlide10.xml" Id="R549e21f5936744d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8c14a3181a491f" /><Relationship Type="http://schemas.openxmlformats.org/officeDocument/2006/relationships/chart" Target="/ppt/slides/charts/chart2.xml" Id="R23ee9593890b42d6" /><Relationship Type="http://schemas.openxmlformats.org/officeDocument/2006/relationships/notesSlide" Target="/ppt/notesSlides/notesSlide11.xml" Id="R3d28c02eaace466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eccc7ceee247a8" /><Relationship Type="http://schemas.openxmlformats.org/officeDocument/2006/relationships/notesSlide" Target="/ppt/notesSlides/notesSlide12.xml" Id="R0d737696409646e3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Airports</c:v>
          </c:tx>
          <c:spPr>
            <a:solidFill xmlns:a="http://schemas.openxmlformats.org/drawingml/2006/main">
              <a:srgbClr val="2B8A68"/>
            </a:solidFill>
          </c:spPr>
          <c:cat>
            <c:strRef>
              <c:f>'Chart Data'!$A$2:$A$6</c:f>
              <c:strCache>
                <c:ptCount val="5"/>
                <c:pt idx="0">
                  <c:v>US registry</c:v>
                </c:pt>
                <c:pt idx="1">
                  <c:v>FAA outlook</c:v>
                </c:pt>
                <c:pt idx="2">
                  <c:v>Long-haul</c:v>
                </c:pt>
                <c:pt idx="3">
                  <c:v>Delay</c:v>
                </c:pt>
                <c:pt idx="4">
                  <c:v>Score eligible</c:v>
                </c:pt>
              </c:strCache>
            </c:strRef>
          </c:cat>
          <c:val>
            <c:numRef>
              <c:f>'Chart Data'!$B$2:$B$6</c:f>
              <c:numCache>
                <c:formatCode>#,##0</c:formatCode>
                <c:ptCount val="5"/>
                <c:pt idx="0">
                  <c:v>1005</c:v>
                </c:pt>
                <c:pt idx="1">
                  <c:v>712</c:v>
                </c:pt>
                <c:pt idx="2">
                  <c:v>635</c:v>
                </c:pt>
                <c:pt idx="3">
                  <c:v>354</c:v>
                </c:pt>
                <c:pt idx="4">
                  <c:v>226</c:v>
                </c:pt>
              </c:numCache>
            </c:numRef>
          </c:val>
        </c:ser>
        <c:dLbls>
          <c:numFmt formatCode="#,##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10232C"/>
                  </a:solidFill>
                  <a:latin typeface="Aptos"/>
                  <a:ea typeface="Aptos"/>
                  <a:cs typeface="Apto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0232C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  <c:max val="1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DF"/>
              </a:solidFill>
              <a:prstDash val="solid"/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0858D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  <c:majorUnit val="250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Correct plans</c:v>
          </c:tx>
          <c:spPr>
            <a:solidFill xmlns:a="http://schemas.openxmlformats.org/drawingml/2006/main">
              <a:srgbClr val="55BCD0"/>
            </a:solidFill>
          </c:spPr>
          <c:cat>
            <c:strRef>
              <c:f>'Chart Data'!$A$2:$A$5</c:f>
              <c:strCache>
                <c:ptCount val="4"/>
                <c:pt idx="0">
                  <c:v>Run 1</c:v>
                </c:pt>
                <c:pt idx="1">
                  <c:v>Run 2</c:v>
                </c:pt>
                <c:pt idx="2">
                  <c:v>Run 3</c:v>
                </c:pt>
                <c:pt idx="3">
                  <c:v>Run 4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3</c:v>
                </c:pt>
                <c:pt idx="1">
                  <c:v>12</c:v>
                </c:pt>
                <c:pt idx="2">
                  <c:v>15</c:v>
                </c:pt>
                <c:pt idx="3">
                  <c:v>14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FFFFFF"/>
                  </a:solidFill>
                  <a:latin typeface="Aptos"/>
                  <a:ea typeface="Aptos"/>
                  <a:cs typeface="Apto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C7D5D9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  <c:max val="1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31505B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FC2C8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  <c:majorUnit val="3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9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DF089A-227B-4B4C-9103-BF326DA6BE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390fad6beb4a7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377D63-381D-494D-9117-EE9259D42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810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31D">
              <a:alpha val="87059"/>
            </a:srgbClr>
          </a:solidFill>
          <a:ln xmlns:a="http://schemas.openxmlformats.org/drawingml/2006/main" w="0">
            <a:solidFill>
              <a:srgbClr val="06131D">
                <a:alpha val="87059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CD4FFE-A5EC-4995-82E8-23B7B18FE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423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91D7BD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91D7BD"/>
                </a:solidFill>
              </a:defRPr>
            </a:pPr>
            <a:r>
              <a:rPr sz="900" b="1">
                <a:solidFill>
                  <a:srgbClr val="91D7BD"/>
                </a:solidFill>
              </a:rPr>
              <a:t>AIRPORT INVESTMENT INTELLIGENCE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7C6B02-EDE6-46BA-A3BC-04B5925C8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4762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6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Find the next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airport diligence lead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953C23-602E-421D-83F2-1856A958C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4381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D6E2E5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D6E2E5"/>
                </a:solidFill>
              </a:defRPr>
            </a:pPr>
            <a:r>
              <a:rPr sz="1500" b="0">
                <a:solidFill>
                  <a:srgbClr val="D6E2E5"/>
                </a:solidFill>
              </a:rPr>
              <a:t>A conversational screen for US airport modernization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3BE444-DD76-48F4-8001-A58087514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D7BD"/>
          </a:solidFill>
          <a:ln xmlns:a="http://schemas.openxmlformats.org/drawingml/2006/main" w="0">
            <a:solidFill>
              <a:srgbClr val="91D7B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CB2B34-0125-429F-9D19-F8563A4F3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Gate 1: identify leads worth the next diligence 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2A3265-C46C-4CC3-814F-9A68CDF73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AFC2C8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AFC2C8"/>
                </a:solidFill>
              </a:defRPr>
            </a:pPr>
            <a:r>
              <a:rPr sz="900" b="0">
                <a:solidFill>
                  <a:srgbClr val="AFC2C8"/>
                </a:solidFill>
              </a:rPr>
              <a:t>Interview take-home  ·  FDE</a:t>
            </a:r>
          </a:p>
        </p:txBody>
      </p:sp>
    </p:spTree>
    <p:extLst>
      <p:ext uri="{BB962C8B-B14F-4D97-AF65-F5344CB8AC3E}">
        <p14:creationId xmlns:p14="http://schemas.microsoft.com/office/powerpoint/2010/main" val="11690247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129206-CBC6-4B8F-B034-9BB0E568D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2B8A68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2B8A68"/>
                </a:solidFill>
              </a:defRPr>
            </a:pPr>
            <a:r>
              <a:rPr sz="900" b="1">
                <a:solidFill>
                  <a:srgbClr val="2B8A68"/>
                </a:solidFill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8EE3EB-B9E9-421E-8FA6-4ADE5D7A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38150"/>
            <a:ext cx="34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DF"/>
          </a:solidFill>
          <a:ln xmlns:a="http://schemas.openxmlformats.org/drawingml/2006/main" w="0">
            <a:solidFill>
              <a:srgbClr val="D9E2D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B6A172-4ADA-454C-A0D7-128A95E7B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10232C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0232C"/>
                </a:solidFill>
              </a:defRPr>
            </a:pPr>
            <a:r>
              <a:rPr sz="2550" b="1">
                <a:solidFill>
                  <a:srgbClr val="10232C"/>
                </a:solidFill>
              </a:rPr>
              <a:t>The first job is a defensible shortlist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5EFAEF-377C-45B6-8CFD-E9869EF29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425760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425760"/>
                </a:solidFill>
              </a:defRPr>
            </a:pPr>
            <a:r>
              <a:rPr sz="1200" b="0">
                <a:solidFill>
                  <a:srgbClr val="425760"/>
                </a:solidFill>
              </a:rPr>
              <a:t>The costly failure is funding a terminal when the binding constraint sits elsewhere.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F0D194-2574-4466-A015-2B8A620FA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31432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2B8A68"/>
          </a:solidFill>
          <a:ln xmlns:a="http://schemas.openxmlformats.org/drawingml/2006/main" w="0">
            <a:solidFill>
              <a:srgbClr val="2B8A6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6142BD-FF0B-4F38-995A-F8E1D0496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14625"/>
            <a:ext cx="49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91D7BD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91D7BD"/>
                </a:solidFill>
              </a:defRPr>
            </a:pPr>
            <a:r>
              <a:rPr sz="1950" b="1">
                <a:solidFill>
                  <a:srgbClr val="91D7BD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B46045-C6F3-49AA-8E80-7F95EBE1E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05175"/>
            <a:ext cx="2609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Find leads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BE2AFE-82E6-4610-B3B4-316303FDC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33800"/>
            <a:ext cx="2609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E5F2EE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E5F2EE"/>
                </a:solidFill>
              </a:defRPr>
            </a:pPr>
            <a:r>
              <a:rPr sz="1125" b="0">
                <a:solidFill>
                  <a:srgbClr val="E5F2EE"/>
                </a:solidFill>
              </a:rPr>
              <a:t>Quantify demand signals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E34EBD-7778-4137-936B-0372B9001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190875"/>
            <a:ext cx="28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850" b="1">
                <a:solidFill>
                  <a:srgbClr val="70858D"/>
                </a:solidFill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2850" b="1">
                <a:solidFill>
                  <a:srgbClr val="70858D"/>
                </a:solidFill>
              </a:defRPr>
            </a:pPr>
            <a:r>
              <a:rPr sz="2850" b="1">
                <a:solidFill>
                  <a:srgbClr val="70858D"/>
                </a:solidFill>
              </a:rPr>
              <a:t>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B2D0A1-ADE1-44B9-978B-43403E58C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524125"/>
            <a:ext cx="31432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4E9E7"/>
          </a:solidFill>
          <a:ln xmlns:a="http://schemas.openxmlformats.org/drawingml/2006/main" w="0">
            <a:solidFill>
              <a:srgbClr val="E4E9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2D8C2C-7A33-4DD7-9BF1-06EC1B082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714625"/>
            <a:ext cx="49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70858D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70858D"/>
                </a:solidFill>
              </a:defRPr>
            </a:pPr>
            <a:r>
              <a:rPr sz="1950" b="1">
                <a:solidFill>
                  <a:srgbClr val="70858D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ACC79F-56B0-4F98-B929-0A0D793A6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05175"/>
            <a:ext cx="2609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10232C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0232C"/>
                </a:solidFill>
              </a:defRPr>
            </a:pPr>
            <a:r>
              <a:rPr sz="1875" b="1">
                <a:solidFill>
                  <a:srgbClr val="10232C"/>
                </a:solidFill>
              </a:rPr>
              <a:t>Test the constraint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FE0C17-59CE-4A6D-98A0-D62C18AAF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733800"/>
            <a:ext cx="2609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425760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25760"/>
                </a:solidFill>
              </a:defRPr>
            </a:pPr>
            <a:r>
              <a:rPr sz="1125" b="0">
                <a:solidFill>
                  <a:srgbClr val="425760"/>
                </a:solidFill>
              </a:rPr>
              <a:t>Terminal, runway, airspace, weather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F5C182-694B-494D-B5BB-19492756B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190875"/>
            <a:ext cx="28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850" b="1">
                <a:solidFill>
                  <a:srgbClr val="70858D"/>
                </a:solidFill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2850" b="1">
                <a:solidFill>
                  <a:srgbClr val="70858D"/>
                </a:solidFill>
              </a:defRPr>
            </a:pPr>
            <a:r>
              <a:rPr sz="2850" b="1">
                <a:solidFill>
                  <a:srgbClr val="70858D"/>
                </a:solidFill>
              </a:rPr>
              <a:t>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7B0301-D7A3-4DD8-90EC-E783DE083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524125"/>
            <a:ext cx="31432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4E9E7"/>
          </a:solidFill>
          <a:ln xmlns:a="http://schemas.openxmlformats.org/drawingml/2006/main" w="0">
            <a:solidFill>
              <a:srgbClr val="E4E9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498363-036C-41A0-B35B-2B340E118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14625"/>
            <a:ext cx="49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70858D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70858D"/>
                </a:solidFill>
              </a:defRPr>
            </a:pPr>
            <a:r>
              <a:rPr sz="1950" b="1">
                <a:solidFill>
                  <a:srgbClr val="70858D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3162E0-6017-4FCE-8683-CBF821104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305175"/>
            <a:ext cx="2609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10232C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0232C"/>
                </a:solidFill>
              </a:defRPr>
            </a:pPr>
            <a:r>
              <a:rPr sz="1875" b="1">
                <a:solidFill>
                  <a:srgbClr val="10232C"/>
                </a:solidFill>
              </a:rPr>
              <a:t>Underwrite returns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55AF0E-DBE3-408D-B76F-BCC79FD76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733800"/>
            <a:ext cx="2609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425760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25760"/>
                </a:solidFill>
              </a:defRPr>
            </a:pPr>
            <a:r>
              <a:rPr sz="1125" b="0">
                <a:solidFill>
                  <a:srgbClr val="425760"/>
                </a:solidFill>
              </a:rPr>
              <a:t>CAPEX, contribution, NPV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2C1EED-73F2-454D-BBFA-3047040CD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2B8A68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2B8A68"/>
                </a:solidFill>
              </a:defRPr>
            </a:pPr>
            <a:r>
              <a:rPr sz="1800" b="1">
                <a:solidFill>
                  <a:srgbClr val="2B8A68"/>
                </a:solidFill>
              </a:rPr>
              <a:t>This product owns Gate 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E1E601-4A21-4B63-B90A-DC5DFFFF9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923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425760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425760"/>
                </a:solidFill>
              </a:defRPr>
            </a:pPr>
            <a:r>
              <a:rPr sz="1275" b="0">
                <a:solidFill>
                  <a:srgbClr val="425760"/>
                </a:solidFill>
              </a:rPr>
              <a:t>Every high score remains a lead until separate diligence confirms the intervention and the economics.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21F3D0-57A1-4C28-A73F-9E129ECE8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6D2"/>
          </a:solidFill>
          <a:ln xmlns:a="http://schemas.openxmlformats.org/drawingml/2006/main" w="0">
            <a:solidFill>
              <a:srgbClr val="C9D6D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551EB6-EC2D-443D-B93D-F46698B66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70858D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0858D"/>
                </a:solidFill>
              </a:defRPr>
            </a:pPr>
            <a:r>
              <a:rPr sz="750" b="0">
                <a:solidFill>
                  <a:srgbClr val="70858D"/>
                </a:solidFill>
              </a:rPr>
              <a:t>Airport Investment Intelligence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8D8766-A773-4ABC-9B6F-5566EA6A4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055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750" b="0">
                <a:solidFill>
                  <a:srgbClr val="70858D"/>
                </a:solidFill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70858D"/>
                </a:solidFill>
              </a:defRPr>
            </a:pPr>
            <a:r>
              <a:rPr sz="750" b="0">
                <a:solidFill>
                  <a:srgbClr val="70858D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253039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8CC8F1-AF01-47E6-A37F-3B8F0112E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2B8A68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2B8A68"/>
                </a:solidFill>
              </a:defRPr>
            </a:pPr>
            <a:r>
              <a:rPr sz="900" b="1">
                <a:solidFill>
                  <a:srgbClr val="2B8A68"/>
                </a:solidFill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5542D9-4BC4-4ADB-B6CC-338D2D9D0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38150"/>
            <a:ext cx="34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DF"/>
          </a:solidFill>
          <a:ln xmlns:a="http://schemas.openxmlformats.org/drawingml/2006/main" w="0">
            <a:solidFill>
              <a:srgbClr val="D9E2D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8E4C85-CFB4-4380-8A9B-4326EE5CA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10232C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0232C"/>
                </a:solidFill>
              </a:defRPr>
            </a:pPr>
            <a:r>
              <a:rPr sz="2550" b="1">
                <a:solidFill>
                  <a:srgbClr val="10232C"/>
                </a:solidFill>
              </a:rPr>
              <a:t>One interface supports several diligence questions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C458EC-7604-4C46-95ED-483A2EC40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425760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425760"/>
                </a:solidFill>
              </a:defRPr>
            </a:pPr>
            <a:r>
              <a:rPr sz="1200" b="0">
                <a:solidFill>
                  <a:srgbClr val="425760"/>
                </a:solidFill>
              </a:rPr>
              <a:t>The same planner resolves scope, metrics and qualifiers before deterministic tools run.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B6F75A-AA3F-430B-B55E-8A6502DB7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2B8A68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2B8A68"/>
                </a:solidFill>
              </a:defRPr>
            </a:pPr>
            <a:r>
              <a:rPr sz="825" b="1">
                <a:solidFill>
                  <a:srgbClr val="2B8A68"/>
                </a:solidFill>
              </a:rPr>
              <a:t>RANK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9E3D13-AE8C-444E-A7EB-D15E76F92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10232C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0232C"/>
                </a:solidFill>
              </a:defRPr>
            </a:pPr>
            <a:r>
              <a:rPr sz="1200" b="1">
                <a:solidFill>
                  <a:srgbClr val="10232C"/>
                </a:solidFill>
              </a:rPr>
              <a:t>Which New England airports deserve a closer look?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3DCE50-8B8E-40AC-BCFB-67CE0DC35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38425"/>
            <a:ext cx="2343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DF"/>
          </a:solidFill>
          <a:ln xmlns:a="http://schemas.openxmlformats.org/drawingml/2006/main" w="0">
            <a:solidFill>
              <a:srgbClr val="D9E2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D36CDA-2C09-4AD4-8191-ADB711423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336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2B8A68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2B8A68"/>
                </a:solidFill>
              </a:defRPr>
            </a:pPr>
            <a:r>
              <a:rPr sz="825" b="1">
                <a:solidFill>
                  <a:srgbClr val="2B8A68"/>
                </a:solidFill>
              </a:rPr>
              <a:t>COMPARE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4FC75B-6D23-478E-BFAC-E3BFBC822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62275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10232C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0232C"/>
                </a:solidFill>
              </a:defRPr>
            </a:pPr>
            <a:r>
              <a:rPr sz="1200" b="1">
                <a:solidFill>
                  <a:srgbClr val="10232C"/>
                </a:solidFill>
              </a:rPr>
              <a:t>Compare PDX and SEA on delays and growth.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699359-65E7-4792-83AE-5F1AB5902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2343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DF"/>
          </a:solidFill>
          <a:ln xmlns:a="http://schemas.openxmlformats.org/drawingml/2006/main" w="0">
            <a:solidFill>
              <a:srgbClr val="D9E2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6F411E-5A0C-4DB5-B896-2E66CF116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3A6E9B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3A6E9B"/>
                </a:solidFill>
              </a:defRPr>
            </a:pPr>
            <a:r>
              <a:rPr sz="825" b="1">
                <a:solidFill>
                  <a:srgbClr val="3A6E9B"/>
                </a:solidFill>
              </a:rPr>
              <a:t>ROUTES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4FAF93-B775-4FA9-9B89-95C6F1E3F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10232C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0232C"/>
                </a:solidFill>
              </a:defRPr>
            </a:pPr>
            <a:r>
              <a:rPr sz="1200" b="1">
                <a:solidFill>
                  <a:srgbClr val="10232C"/>
                </a:solidFill>
              </a:rPr>
              <a:t>What share of BDL departures go 2,500+ miles?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5E08F1-AC72-4978-AD76-34D47DA81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86275"/>
            <a:ext cx="2343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DF"/>
          </a:solidFill>
          <a:ln xmlns:a="http://schemas.openxmlformats.org/drawingml/2006/main" w="0">
            <a:solidFill>
              <a:srgbClr val="D9E2D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5EFC3E-5F5D-472C-AD58-2A83D6B09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15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3A6E9B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3A6E9B"/>
                </a:solidFill>
              </a:defRPr>
            </a:pPr>
            <a:r>
              <a:rPr sz="825" b="1">
                <a:solidFill>
                  <a:srgbClr val="3A6E9B"/>
                </a:solidFill>
              </a:rPr>
              <a:t>DEMAND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77F4BB-8C7D-4230-8AA6-648E4355F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0125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10232C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0232C"/>
                </a:solidFill>
              </a:defRPr>
            </a:pPr>
            <a:r>
              <a:rPr sz="1200" b="1">
                <a:solidFill>
                  <a:srgbClr val="10232C"/>
                </a:solidFill>
              </a:rPr>
              <a:t>How much demand pressure is visible at SFO?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09FD00-D88D-4132-8501-78E543389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76400"/>
            <a:ext cx="8172450" cy="4295775"/>
          </a:xfrm>
          <a:prstGeom xmlns:a="http://schemas.openxmlformats.org/drawingml/2006/main" prst="roundRect">
            <a:avLst>
              <a:gd name="adj" fmla="val 3548"/>
            </a:avLst>
          </a:prstGeom>
          <a:solidFill xmlns:a="http://schemas.openxmlformats.org/drawingml/2006/main">
            <a:srgbClr val="E7EDEB"/>
          </a:solidFill>
          <a:ln xmlns:a="http://schemas.openxmlformats.org/drawingml/2006/main" w="0">
            <a:solidFill>
              <a:srgbClr val="E7ED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A60F5F-BDC1-4357-AA0F-A44AE1FFA9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91b4aa0a944c34"/>
          <a:srcRect xmlns:a="http://schemas.openxmlformats.org/drawingml/2006/main" l="12000" t="1000" r="2000" b="1000"/>
          <a:stretch xmlns:a="http://schemas.openxmlformats.org/drawingml/2006/main"/>
        </p:blipFill>
        <p:spPr>
          <a:xfrm xmlns:a="http://schemas.openxmlformats.org/drawingml/2006/main">
            <a:off x="3448050" y="1790700"/>
            <a:ext cx="7943850" cy="4067175"/>
          </a:xfrm>
          <a:prstGeom xmlns:a="http://schemas.openxmlformats.org/drawingml/2006/main" prst="roundRect">
            <a:avLst>
              <a:gd name="adj" fmla="val 2810"/>
            </a:avLst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EDA699-8DDD-4903-8E47-6AA0D1AC6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6D2"/>
          </a:solidFill>
          <a:ln xmlns:a="http://schemas.openxmlformats.org/drawingml/2006/main" w="0">
            <a:solidFill>
              <a:srgbClr val="C9D6D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403700-E056-4F57-8E6C-B47559B28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70858D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0858D"/>
                </a:solidFill>
              </a:defRPr>
            </a:pPr>
            <a:r>
              <a:rPr sz="750" b="0">
                <a:solidFill>
                  <a:srgbClr val="70858D"/>
                </a:solidFill>
              </a:rPr>
              <a:t>Live product screenshot · localhost demo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5E0575-FE5D-4E70-8D69-03B7E22F4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055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750" b="0">
                <a:solidFill>
                  <a:srgbClr val="70858D"/>
                </a:solidFill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70858D"/>
                </a:solidFill>
              </a:defRPr>
            </a:pPr>
            <a:r>
              <a:rPr sz="750" b="0">
                <a:solidFill>
                  <a:srgbClr val="70858D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853698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5E0AF2-CC68-4BAF-9C72-64F55C24E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2B8A68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2B8A68"/>
                </a:solidFill>
              </a:defRPr>
            </a:pPr>
            <a:r>
              <a:rPr sz="900" b="1">
                <a:solidFill>
                  <a:srgbClr val="2B8A68"/>
                </a:solidFill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0F4C83-7958-4101-A4C6-B8096BA5D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38150"/>
            <a:ext cx="34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DF"/>
          </a:solidFill>
          <a:ln xmlns:a="http://schemas.openxmlformats.org/drawingml/2006/main" w="0">
            <a:solidFill>
              <a:srgbClr val="D9E2D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C16143-9AA8-4736-8B8E-DD5D3B922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10232C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0232C"/>
                </a:solidFill>
              </a:defRPr>
            </a:pPr>
            <a:r>
              <a:rPr sz="2550" b="1">
                <a:solidFill>
                  <a:srgbClr val="10232C"/>
                </a:solidFill>
              </a:rPr>
              <a:t>Coverage is broad, but each metric has its own footprint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10352F-1603-4219-9F69-151507855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425760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425760"/>
                </a:solidFill>
              </a:defRPr>
            </a:pPr>
            <a:r>
              <a:rPr sz="1200" b="0">
                <a:solidFill>
                  <a:srgbClr val="425760"/>
                </a:solidFill>
              </a:rPr>
              <a:t>The system checks airport, metric and period coverage before it calculates.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9E5E762E-2735-41EC-8195-02841EDAA7DB}"/>
              </a:ext>
            </a:extLst>
          </p:cNvPr>
          <p:cNvGraphicFramePr/>
          <p:nvPr/>
        </p:nvGraphicFramePr>
        <p:xfrm>
          <a:off xmlns:a="http://schemas.openxmlformats.org/drawingml/2006/main" x="876300" y="1809750"/>
          <a:ext xmlns:a="http://schemas.openxmlformats.org/drawingml/2006/main" cx="7096125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ae1904a94504d94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851DA4-39AA-45B9-9042-C86398268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526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2B8A68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B8A68"/>
                </a:solidFill>
              </a:defRPr>
            </a:pPr>
            <a:r>
              <a:rPr sz="975" b="1">
                <a:solidFill>
                  <a:srgbClr val="2B8A68"/>
                </a:solidFill>
              </a:rPr>
              <a:t>Coverage rule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3F42CD-46E7-46A1-BA5B-203B3AA7C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3241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1">
                <a:solidFill>
                  <a:srgbClr val="10232C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0232C"/>
                </a:solidFill>
              </a:defRPr>
            </a:pPr>
            <a:r>
              <a:rPr sz="2100" b="1">
                <a:solidFill>
                  <a:srgbClr val="10232C"/>
                </a:solidFill>
              </a:rPr>
              <a:t>Missing is never zero.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0A1E44-1664-4F90-B8D8-547D4079E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000375"/>
            <a:ext cx="2571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425760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425760"/>
                </a:solidFill>
              </a:defRPr>
            </a:pPr>
            <a:r>
              <a:rPr sz="1200" b="0">
                <a:solidFill>
                  <a:srgbClr val="425760"/>
                </a:solidFill>
              </a:rPr>
              <a:t>An uncovered airport returns a named evidence gap. A comparison proceeds only when both sides use the same definition and period.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60FD93-AEC8-43ED-84E1-2E33990E8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619625"/>
            <a:ext cx="20193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4F2ED"/>
          </a:solidFill>
          <a:ln xmlns:a="http://schemas.openxmlformats.org/drawingml/2006/main" w="9525">
            <a:solidFill>
              <a:srgbClr val="E4F2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C10793-C516-4A52-B501-5B462F4BF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638675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825" b="1">
                <a:solidFill>
                  <a:srgbClr val="2B8A68"/>
                </a:solidFill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2B8A68"/>
                </a:solidFill>
              </a:defRPr>
            </a:pPr>
            <a:r>
              <a:rPr sz="825" b="1">
                <a:solidFill>
                  <a:srgbClr val="2B8A68"/>
                </a:solidFill>
              </a:rPr>
              <a:t>BTS + FAA public data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2BB67C-2E6F-495D-9DB4-8D7E8F18D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5048250"/>
            <a:ext cx="1809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8EEF3"/>
          </a:solidFill>
          <a:ln xmlns:a="http://schemas.openxmlformats.org/drawingml/2006/main" w="9525">
            <a:solidFill>
              <a:srgbClr val="E8EEF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770FAD-A612-4380-B5B8-0E31E140D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506730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825" b="1">
                <a:solidFill>
                  <a:srgbClr val="3A6E9B"/>
                </a:solidFill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3A6E9B"/>
                </a:solidFill>
              </a:defRPr>
            </a:pPr>
            <a:r>
              <a:rPr sz="825" b="1">
                <a:solidFill>
                  <a:srgbClr val="3A6E9B"/>
                </a:solidFill>
              </a:rPr>
              <a:t>2023–2025 traffic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99908E-D0D1-4EA2-BAD3-50A43CA3B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6D2"/>
          </a:solidFill>
          <a:ln xmlns:a="http://schemas.openxmlformats.org/drawingml/2006/main" w="0">
            <a:solidFill>
              <a:srgbClr val="C9D6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7FF993-F359-45CB-A2F8-7CEA360CC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70858D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0858D"/>
                </a:solidFill>
              </a:defRPr>
            </a:pPr>
            <a:r>
              <a:rPr sz="750" b="0">
                <a:solidFill>
                  <a:srgbClr val="70858D"/>
                </a:solidFill>
              </a:rPr>
              <a:t>Installed data coverage · 2026-10-11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09E52C-2ED8-4C69-A1D5-DEDD802F6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055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750" b="0">
                <a:solidFill>
                  <a:srgbClr val="70858D"/>
                </a:solidFill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70858D"/>
                </a:solidFill>
              </a:defRPr>
            </a:pPr>
            <a:r>
              <a:rPr sz="750" b="0">
                <a:solidFill>
                  <a:srgbClr val="70858D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417061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19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E164A0-A976-43DE-B316-283E40870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91D7BD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91D7BD"/>
                </a:solidFill>
              </a:defRPr>
            </a:pPr>
            <a:r>
              <a:rPr sz="900" b="1">
                <a:solidFill>
                  <a:srgbClr val="91D7BD"/>
                </a:solidFill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B97C4C-59B9-4C8F-8309-2E1F27711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38150"/>
            <a:ext cx="34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05B"/>
          </a:solidFill>
          <a:ln xmlns:a="http://schemas.openxmlformats.org/drawingml/2006/main" w="0">
            <a:solidFill>
              <a:srgbClr val="3150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20CAED-8DB8-404D-BA90-219F93100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The score balances momentum with investable scale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0A04E2-CE9F-4EA5-9723-4356C5966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B9C8CD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B9C8CD"/>
                </a:solidFill>
              </a:defRPr>
            </a:pPr>
            <a:r>
              <a:rPr sz="1200" b="0">
                <a:solidFill>
                  <a:srgbClr val="B9C8CD"/>
                </a:solidFill>
              </a:rPr>
              <a:t>Three deterministic percentiles produce a 0–100 lead score.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521D40-509A-4848-B117-231BC728C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38375"/>
            <a:ext cx="41148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A68"/>
          </a:solidFill>
          <a:ln xmlns:a="http://schemas.openxmlformats.org/drawingml/2006/main" w="0">
            <a:solidFill>
              <a:srgbClr val="2B8A6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8DF0D5-544C-4F46-B386-05B395BFF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71725"/>
            <a:ext cx="3695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081923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325" b="1">
                <a:solidFill>
                  <a:srgbClr val="081923"/>
                </a:solidFill>
              </a:defRPr>
            </a:pPr>
            <a:r>
              <a:rPr sz="2325" b="1">
                <a:solidFill>
                  <a:srgbClr val="081923"/>
                </a:solidFill>
              </a:rPr>
              <a:t>40%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5DF1D2-E0E7-491A-8D54-DC814BA98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38450"/>
            <a:ext cx="3695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081923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81923"/>
                </a:solidFill>
              </a:defRPr>
            </a:pPr>
            <a:r>
              <a:rPr sz="1350" b="1">
                <a:solidFill>
                  <a:srgbClr val="081923"/>
                </a:solidFill>
              </a:rPr>
              <a:t>Growth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A94B81-596A-4C53-B28E-1C19E1CF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38375"/>
            <a:ext cx="36004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BCD0"/>
          </a:solidFill>
          <a:ln xmlns:a="http://schemas.openxmlformats.org/drawingml/2006/main" w="0">
            <a:solidFill>
              <a:srgbClr val="55BC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809B0A-4483-4DCB-AAEB-BBBC29DA2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371725"/>
            <a:ext cx="3181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081923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325" b="1">
                <a:solidFill>
                  <a:srgbClr val="081923"/>
                </a:solidFill>
              </a:defRPr>
            </a:pPr>
            <a:r>
              <a:rPr sz="2325" b="1">
                <a:solidFill>
                  <a:srgbClr val="081923"/>
                </a:solidFill>
              </a:rPr>
              <a:t>35%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558818-DAF2-4E66-BCD0-F79519BCB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38450"/>
            <a:ext cx="3181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081923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81923"/>
                </a:solidFill>
              </a:defRPr>
            </a:pPr>
            <a:r>
              <a:rPr sz="1350" b="1">
                <a:solidFill>
                  <a:srgbClr val="081923"/>
                </a:solidFill>
              </a:rPr>
              <a:t>Scale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1C05C1-549F-40D6-A8D9-D775305AE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238375"/>
            <a:ext cx="2571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A33"/>
          </a:solidFill>
          <a:ln xmlns:a="http://schemas.openxmlformats.org/drawingml/2006/main" w="0">
            <a:solidFill>
              <a:srgbClr val="D79A3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EB2328-5565-4D85-83CE-2AF7BB595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371725"/>
            <a:ext cx="2152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081923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325" b="1">
                <a:solidFill>
                  <a:srgbClr val="081923"/>
                </a:solidFill>
              </a:defRPr>
            </a:pPr>
            <a:r>
              <a:rPr sz="2325" b="1">
                <a:solidFill>
                  <a:srgbClr val="081923"/>
                </a:solidFill>
              </a:rPr>
              <a:t>25%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149E50-ECBA-4C0D-BC99-9D1CED07C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838450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081923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81923"/>
                </a:solidFill>
              </a:defRPr>
            </a:pPr>
            <a:r>
              <a:rPr sz="1350" b="1">
                <a:solidFill>
                  <a:srgbClr val="081923"/>
                </a:solidFill>
              </a:rPr>
              <a:t>Utilization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EC5EE7-5FFB-4450-AF24-56AE7467F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91D7BD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91D7BD"/>
                </a:solidFill>
              </a:defRPr>
            </a:pPr>
            <a:r>
              <a:rPr sz="1125" b="1">
                <a:solidFill>
                  <a:srgbClr val="91D7BD"/>
                </a:solidFill>
              </a:rPr>
              <a:t>Growth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1C6215-2C48-4BE1-9606-BFF2E6DE8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48150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D1DEE2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D1DEE2"/>
                </a:solidFill>
              </a:defRPr>
            </a:pPr>
            <a:r>
              <a:rPr sz="1200" b="0">
                <a:solidFill>
                  <a:srgbClr val="D1DEE2"/>
                </a:solidFill>
              </a:rPr>
              <a:t>2-year CAGR vs same-size peers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5DA357-FB73-419F-BBCC-339D3E50D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9052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91D7BD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91D7BD"/>
                </a:solidFill>
              </a:defRPr>
            </a:pPr>
            <a:r>
              <a:rPr sz="1125" b="1">
                <a:solidFill>
                  <a:srgbClr val="91D7BD"/>
                </a:solidFill>
              </a:rPr>
              <a:t>Scale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E421E8-C45C-407A-967C-15864F1B4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248150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D1DEE2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D1DEE2"/>
                </a:solidFill>
              </a:defRPr>
            </a:pPr>
            <a:r>
              <a:rPr sz="1200" b="0">
                <a:solidFill>
                  <a:srgbClr val="D1DEE2"/>
                </a:solidFill>
              </a:rPr>
              <a:t>Annual passengers added vs the US market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0694B4-48F7-4749-A434-7DA1FD5DF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9052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91D7BD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91D7BD"/>
                </a:solidFill>
              </a:defRPr>
            </a:pPr>
            <a:r>
              <a:rPr sz="1125" b="1">
                <a:solidFill>
                  <a:srgbClr val="91D7BD"/>
                </a:solidFill>
              </a:rPr>
              <a:t>Utilization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794D6D-FAED-480E-8EA8-3C26CBDE2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248150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D1DEE2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D1DEE2"/>
                </a:solidFill>
              </a:defRPr>
            </a:pPr>
            <a:r>
              <a:rPr sz="1200" b="0">
                <a:solidFill>
                  <a:srgbClr val="D1DEE2"/>
                </a:solidFill>
              </a:rPr>
              <a:t>Seat load vs same-size peers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85D9DF-D207-417A-9653-2D0BC710E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67325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05B"/>
          </a:solidFill>
          <a:ln xmlns:a="http://schemas.openxmlformats.org/drawingml/2006/main" w="0">
            <a:solidFill>
              <a:srgbClr val="31505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FBAD46-E547-488C-8DCD-E4071CB76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864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91D7BD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91D7BD"/>
                </a:solidFill>
              </a:defRPr>
            </a:pPr>
            <a:r>
              <a:rPr sz="900" b="1">
                <a:solidFill>
                  <a:srgbClr val="91D7BD"/>
                </a:solidFill>
              </a:rPr>
              <a:t>Eligibility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44F93A-7DB9-4A6A-B342-C84AA3495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5429250"/>
            <a:ext cx="9001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36 complete months · ≥100K departing passengers · valid seats · ≥12 cohort peers</a:t>
            </a:r>
          </a:p>
        </p:txBody>
      </p:sp>
    </p:spTree>
    <p:extLst>
      <p:ext uri="{BB962C8B-B14F-4D97-AF65-F5344CB8AC3E}">
        <p14:creationId xmlns:p14="http://schemas.microsoft.com/office/powerpoint/2010/main" val="19345244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3BE45D9-D4F1-436F-BD54-E8473F7C0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2B8A68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2B8A68"/>
                </a:solidFill>
              </a:defRPr>
            </a:pPr>
            <a:r>
              <a:rPr sz="900" b="1">
                <a:solidFill>
                  <a:srgbClr val="2B8A68"/>
                </a:solidFill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DD01BD-5221-41F6-9A21-9F9D69F7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38150"/>
            <a:ext cx="34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DF"/>
          </a:solidFill>
          <a:ln xmlns:a="http://schemas.openxmlformats.org/drawingml/2006/main" w="0">
            <a:solidFill>
              <a:srgbClr val="D9E2D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587B9C-9438-4CE3-A6D4-B442C7CA4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10232C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0232C"/>
                </a:solidFill>
              </a:defRPr>
            </a:pPr>
            <a:r>
              <a:rPr sz="2550" b="1">
                <a:solidFill>
                  <a:srgbClr val="10232C"/>
                </a:solidFill>
              </a:rPr>
              <a:t>The leading candidates survive reasonable weight changes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6C90E8-C173-44BC-8A61-7EC804083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425760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425760"/>
                </a:solidFill>
              </a:defRPr>
            </a:pPr>
            <a:r>
              <a:rPr sz="1200" b="0">
                <a:solidFill>
                  <a:srgbClr val="425760"/>
                </a:solidFill>
              </a:rPr>
              <a:t>PDX remains first while the growth weight moves from 0.30 to 0.50.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246A3B-669A-402B-B9C3-BD363BF6C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128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70858D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70858D"/>
                </a:solidFill>
              </a:defRPr>
            </a:pPr>
            <a:r>
              <a:rPr sz="1125" b="1">
                <a:solidFill>
                  <a:srgbClr val="70858D"/>
                </a:solidFill>
              </a:rPr>
              <a:t>Growth 0.30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FCDEE5-1AB3-4F6E-96F2-9EDA63A7A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047875"/>
            <a:ext cx="13525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2B8A68"/>
          </a:solidFill>
          <a:ln xmlns:a="http://schemas.openxmlformats.org/drawingml/2006/main" w="9525">
            <a:solidFill>
              <a:srgbClr val="D9E2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5FF050-3146-4F7A-9B3D-446A9EE32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1240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91D7BD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91D7BD"/>
                </a:solidFill>
              </a:defRPr>
            </a:pPr>
            <a:r>
              <a:rPr sz="750" b="1">
                <a:solidFill>
                  <a:srgbClr val="91D7BD"/>
                </a:solidFill>
              </a:rPr>
              <a:t>#1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96F108-6243-4977-84DA-FAE9E94CF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3145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PDX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3754EC-80BC-4D6A-AE5C-769F5F735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47875"/>
            <a:ext cx="13525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DF1EF"/>
          </a:solidFill>
          <a:ln xmlns:a="http://schemas.openxmlformats.org/drawingml/2006/main" w="9525">
            <a:solidFill>
              <a:srgbClr val="D9E2D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C4EB3C-BB38-4043-95E8-EDE36F9F9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1240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70858D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70858D"/>
                </a:solidFill>
              </a:defRPr>
            </a:pPr>
            <a:r>
              <a:rPr sz="750" b="1">
                <a:solidFill>
                  <a:srgbClr val="70858D"/>
                </a:solidFill>
              </a:rPr>
              <a:t>#2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47A4F9-3637-47E1-A6BA-37F966EB1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3145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10232C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0232C"/>
                </a:solidFill>
              </a:defRPr>
            </a:pPr>
            <a:r>
              <a:rPr sz="1800" b="1">
                <a:solidFill>
                  <a:srgbClr val="10232C"/>
                </a:solidFill>
              </a:rPr>
              <a:t>GRR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3CD0B3-D9F5-491A-9B86-4508A6C16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047875"/>
            <a:ext cx="13525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DF1EF"/>
          </a:solidFill>
          <a:ln xmlns:a="http://schemas.openxmlformats.org/drawingml/2006/main" w="9525">
            <a:solidFill>
              <a:srgbClr val="D9E2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9832AC-1EB4-4F98-A302-A702FF9AB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21240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70858D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70858D"/>
                </a:solidFill>
              </a:defRPr>
            </a:pPr>
            <a:r>
              <a:rPr sz="750" b="1">
                <a:solidFill>
                  <a:srgbClr val="70858D"/>
                </a:solidFill>
              </a:rPr>
              <a:t>#3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8E1CAB-BD79-4224-8D90-F77EE728F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23145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10232C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0232C"/>
                </a:solidFill>
              </a:defRPr>
            </a:pPr>
            <a:r>
              <a:rPr sz="1800" b="1">
                <a:solidFill>
                  <a:srgbClr val="10232C"/>
                </a:solidFill>
              </a:rPr>
              <a:t>SFO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D399CD-E3CB-4A66-A9C1-E6D18D940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47875"/>
            <a:ext cx="13525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DF1EF"/>
          </a:solidFill>
          <a:ln xmlns:a="http://schemas.openxmlformats.org/drawingml/2006/main" w="9525">
            <a:solidFill>
              <a:srgbClr val="D9E2D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1B29F2-7E53-4F54-892E-6C9768E68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1240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70858D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70858D"/>
                </a:solidFill>
              </a:defRPr>
            </a:pPr>
            <a:r>
              <a:rPr sz="750" b="1">
                <a:solidFill>
                  <a:srgbClr val="70858D"/>
                </a:solidFill>
              </a:rPr>
              <a:t>#4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B60618-E8C4-4E71-86FB-381688C7E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3145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10232C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0232C"/>
                </a:solidFill>
              </a:defRPr>
            </a:pPr>
            <a:r>
              <a:rPr sz="1800" b="1">
                <a:solidFill>
                  <a:srgbClr val="10232C"/>
                </a:solidFill>
              </a:rPr>
              <a:t>ORD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6C08A5-4232-49C1-B184-FE7162C1A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047875"/>
            <a:ext cx="13525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DF1EF"/>
          </a:solidFill>
          <a:ln xmlns:a="http://schemas.openxmlformats.org/drawingml/2006/main" w="9525">
            <a:solidFill>
              <a:srgbClr val="D9E2D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40C3BC-BDC9-4DB4-A445-D515C696B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1240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70858D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70858D"/>
                </a:solidFill>
              </a:defRPr>
            </a:pPr>
            <a:r>
              <a:rPr sz="750" b="1">
                <a:solidFill>
                  <a:srgbClr val="70858D"/>
                </a:solidFill>
              </a:rPr>
              <a:t>#5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29826D-601A-4B76-A1EF-0FB2AF3B0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3145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10232C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0232C"/>
                </a:solidFill>
              </a:defRPr>
            </a:pPr>
            <a:r>
              <a:rPr sz="1800" b="1">
                <a:solidFill>
                  <a:srgbClr val="10232C"/>
                </a:solidFill>
              </a:rPr>
              <a:t>TYS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D23FBE-E9DE-4CE2-BE72-B87AFF938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43275"/>
            <a:ext cx="128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2B8A68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2B8A68"/>
                </a:solidFill>
              </a:defRPr>
            </a:pPr>
            <a:r>
              <a:rPr sz="1125" b="1">
                <a:solidFill>
                  <a:srgbClr val="2B8A68"/>
                </a:solidFill>
              </a:rPr>
              <a:t>Growth 0.40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F48513-E41A-4BA8-92ED-8E01BCCF1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143250"/>
            <a:ext cx="13525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2B8A68"/>
          </a:solidFill>
          <a:ln xmlns:a="http://schemas.openxmlformats.org/drawingml/2006/main" w="19050">
            <a:solidFill>
              <a:srgbClr val="91D7B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A6A113-FF95-428C-9433-404028515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32194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91D7BD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91D7BD"/>
                </a:solidFill>
              </a:defRPr>
            </a:pPr>
            <a:r>
              <a:rPr sz="750" b="1">
                <a:solidFill>
                  <a:srgbClr val="91D7BD"/>
                </a:solidFill>
              </a:rPr>
              <a:t>#1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9A44EF-A2B0-4720-94E7-4858A076D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3409950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PDX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0C9350-15F1-462A-AFE4-8DE0B9E01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43250"/>
            <a:ext cx="13525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DF1EF"/>
          </a:solidFill>
          <a:ln xmlns:a="http://schemas.openxmlformats.org/drawingml/2006/main" w="19050">
            <a:solidFill>
              <a:srgbClr val="91D7B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E4D025-9591-4888-A690-5381B2AC5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2194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70858D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70858D"/>
                </a:solidFill>
              </a:defRPr>
            </a:pPr>
            <a:r>
              <a:rPr sz="750" b="1">
                <a:solidFill>
                  <a:srgbClr val="70858D"/>
                </a:solidFill>
              </a:rPr>
              <a:t>#2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4912CD-B25B-49B6-B7AD-38A34F74A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409950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10232C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0232C"/>
                </a:solidFill>
              </a:defRPr>
            </a:pPr>
            <a:r>
              <a:rPr sz="1800" b="1">
                <a:solidFill>
                  <a:srgbClr val="10232C"/>
                </a:solidFill>
              </a:rPr>
              <a:t>GRR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B75E5A-EE0A-43FB-AD1C-D533369D9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143250"/>
            <a:ext cx="13525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DF1EF"/>
          </a:solidFill>
          <a:ln xmlns:a="http://schemas.openxmlformats.org/drawingml/2006/main" w="19050">
            <a:solidFill>
              <a:srgbClr val="91D7B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2CBBD1-608D-4CB7-85D3-1D9115E51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2194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70858D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70858D"/>
                </a:solidFill>
              </a:defRPr>
            </a:pPr>
            <a:r>
              <a:rPr sz="750" b="1">
                <a:solidFill>
                  <a:srgbClr val="70858D"/>
                </a:solidFill>
              </a:rPr>
              <a:t>#3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B97DF4-4793-4E9B-8E23-99F5C445F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409950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10232C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0232C"/>
                </a:solidFill>
              </a:defRPr>
            </a:pPr>
            <a:r>
              <a:rPr sz="1800" b="1">
                <a:solidFill>
                  <a:srgbClr val="10232C"/>
                </a:solidFill>
              </a:rPr>
              <a:t>SFO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94F5FF-D678-4EF9-B64B-978C17424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43250"/>
            <a:ext cx="13525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DF1EF"/>
          </a:solidFill>
          <a:ln xmlns:a="http://schemas.openxmlformats.org/drawingml/2006/main" w="19050">
            <a:solidFill>
              <a:srgbClr val="91D7B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C83AFC5-9643-4743-B748-C0EECEF28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2194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70858D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70858D"/>
                </a:solidFill>
              </a:defRPr>
            </a:pPr>
            <a:r>
              <a:rPr sz="750" b="1">
                <a:solidFill>
                  <a:srgbClr val="70858D"/>
                </a:solidFill>
              </a:rPr>
              <a:t>#4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63B6311-8DBD-44DA-828B-F1599A8F1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409950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10232C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0232C"/>
                </a:solidFill>
              </a:defRPr>
            </a:pPr>
            <a:r>
              <a:rPr sz="1800" b="1">
                <a:solidFill>
                  <a:srgbClr val="10232C"/>
                </a:solidFill>
              </a:rPr>
              <a:t>ORD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0678ABB-7942-4B71-B770-6FF2A0A08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143250"/>
            <a:ext cx="13525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DF1EF"/>
          </a:solidFill>
          <a:ln xmlns:a="http://schemas.openxmlformats.org/drawingml/2006/main" w="19050">
            <a:solidFill>
              <a:srgbClr val="91D7B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FAFAC07-4CB1-44A1-AACF-248111BE5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2194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70858D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70858D"/>
                </a:solidFill>
              </a:defRPr>
            </a:pPr>
            <a:r>
              <a:rPr sz="750" b="1">
                <a:solidFill>
                  <a:srgbClr val="70858D"/>
                </a:solidFill>
              </a:rPr>
              <a:t>#5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5DD3B00-6A03-4366-9B1C-FF6503D97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409950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10232C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0232C"/>
                </a:solidFill>
              </a:defRPr>
            </a:pPr>
            <a:r>
              <a:rPr sz="1800" b="1">
                <a:solidFill>
                  <a:srgbClr val="10232C"/>
                </a:solidFill>
              </a:rPr>
              <a:t>TYS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50AEAB1-6A28-4550-88AE-7806D7CE8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128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70858D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70858D"/>
                </a:solidFill>
              </a:defRPr>
            </a:pPr>
            <a:r>
              <a:rPr sz="1125" b="1">
                <a:solidFill>
                  <a:srgbClr val="70858D"/>
                </a:solidFill>
              </a:rPr>
              <a:t>Growth 0.50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918C08C-C191-4601-8E7F-CA9BA0449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238625"/>
            <a:ext cx="13525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2B8A68"/>
          </a:solidFill>
          <a:ln xmlns:a="http://schemas.openxmlformats.org/drawingml/2006/main" w="9525">
            <a:solidFill>
              <a:srgbClr val="D9E2D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81402D7-99F3-4575-880E-75688CF71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43148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91D7BD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91D7BD"/>
                </a:solidFill>
              </a:defRPr>
            </a:pPr>
            <a:r>
              <a:rPr sz="750" b="1">
                <a:solidFill>
                  <a:srgbClr val="91D7BD"/>
                </a:solidFill>
              </a:rPr>
              <a:t>#1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EAC6527-C12F-4CB5-90E4-DDC4C380D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450532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PDX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E81A7D1-D811-4731-BD97-C4186A1C9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38625"/>
            <a:ext cx="13525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DF1EF"/>
          </a:solidFill>
          <a:ln xmlns:a="http://schemas.openxmlformats.org/drawingml/2006/main" w="9525">
            <a:solidFill>
              <a:srgbClr val="D9E2D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2ED2479-14E3-4E12-B076-D8710A5EC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3148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70858D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70858D"/>
                </a:solidFill>
              </a:defRPr>
            </a:pPr>
            <a:r>
              <a:rPr sz="750" b="1">
                <a:solidFill>
                  <a:srgbClr val="70858D"/>
                </a:solidFill>
              </a:rPr>
              <a:t>#2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54DFE7F-8756-48B6-83EB-AC2E16EA3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50532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10232C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0232C"/>
                </a:solidFill>
              </a:defRPr>
            </a:pPr>
            <a:r>
              <a:rPr sz="1800" b="1">
                <a:solidFill>
                  <a:srgbClr val="10232C"/>
                </a:solidFill>
              </a:rPr>
              <a:t>ORD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EBE296A-F646-4015-8C42-D52088CA2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238625"/>
            <a:ext cx="13525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DF1EF"/>
          </a:solidFill>
          <a:ln xmlns:a="http://schemas.openxmlformats.org/drawingml/2006/main" w="9525">
            <a:solidFill>
              <a:srgbClr val="D9E2D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D606DAD-BC1E-46E1-9F53-153E8DC69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43148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70858D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70858D"/>
                </a:solidFill>
              </a:defRPr>
            </a:pPr>
            <a:r>
              <a:rPr sz="750" b="1">
                <a:solidFill>
                  <a:srgbClr val="70858D"/>
                </a:solidFill>
              </a:rPr>
              <a:t>#3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1535500-8A28-4AE7-A3C3-E2C14E6C7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450532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10232C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0232C"/>
                </a:solidFill>
              </a:defRPr>
            </a:pPr>
            <a:r>
              <a:rPr sz="1800" b="1">
                <a:solidFill>
                  <a:srgbClr val="10232C"/>
                </a:solidFill>
              </a:rPr>
              <a:t>GRR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0F6870B-67A2-4AFE-A951-CC7456510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38625"/>
            <a:ext cx="13525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DF1EF"/>
          </a:solidFill>
          <a:ln xmlns:a="http://schemas.openxmlformats.org/drawingml/2006/main" w="9525">
            <a:solidFill>
              <a:srgbClr val="D9E2D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AE64E82-A510-4659-A8EA-E00EBB137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3148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70858D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70858D"/>
                </a:solidFill>
              </a:defRPr>
            </a:pPr>
            <a:r>
              <a:rPr sz="750" b="1">
                <a:solidFill>
                  <a:srgbClr val="70858D"/>
                </a:solidFill>
              </a:rPr>
              <a:t>#4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30888EF-E22F-4C31-8DD9-D90889F48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50532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10232C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0232C"/>
                </a:solidFill>
              </a:defRPr>
            </a:pPr>
            <a:r>
              <a:rPr sz="1800" b="1">
                <a:solidFill>
                  <a:srgbClr val="10232C"/>
                </a:solidFill>
              </a:rPr>
              <a:t>SFO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391DD33-0CAE-42C3-9145-314547DD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238625"/>
            <a:ext cx="13525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DF1EF"/>
          </a:solidFill>
          <a:ln xmlns:a="http://schemas.openxmlformats.org/drawingml/2006/main" w="9525">
            <a:solidFill>
              <a:srgbClr val="D9E2D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1C5E9E7-A07C-4AC8-A5B8-90028E451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3148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70858D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70858D"/>
                </a:solidFill>
              </a:defRPr>
            </a:pPr>
            <a:r>
              <a:rPr sz="750" b="1">
                <a:solidFill>
                  <a:srgbClr val="70858D"/>
                </a:solidFill>
              </a:rPr>
              <a:t>#5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130AA73-36F6-404D-A482-BB7330B1F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50532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10232C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0232C"/>
                </a:solidFill>
              </a:defRPr>
            </a:pPr>
            <a:r>
              <a:rPr sz="1800" b="1">
                <a:solidFill>
                  <a:srgbClr val="10232C"/>
                </a:solidFill>
              </a:rPr>
              <a:t>PVD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ED404F3-3DAC-40AD-894E-FAAAFCC24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8204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FF5F2"/>
          </a:solidFill>
          <a:ln xmlns:a="http://schemas.openxmlformats.org/drawingml/2006/main" w="0">
            <a:solidFill>
              <a:srgbClr val="EFF5F2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F46E35B-8529-4388-BB7B-DD37EF176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10363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10232C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0232C"/>
                </a:solidFill>
              </a:defRPr>
            </a:pPr>
            <a:r>
              <a:rPr sz="1200" b="1">
                <a:solidFill>
                  <a:srgbClr val="10232C"/>
                </a:solidFill>
              </a:rPr>
              <a:t>4 of the top 5 remain in every run. Each airport also carries a counterfactual score if growth reverts to its cohort median.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9DEE134-30E6-463F-95C7-08885DCF4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6D2"/>
          </a:solidFill>
          <a:ln xmlns:a="http://schemas.openxmlformats.org/drawingml/2006/main" w="0">
            <a:solidFill>
              <a:srgbClr val="C9D6D2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6939801-65AB-4665-8AD3-B31C2D465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70858D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0858D"/>
                </a:solidFill>
              </a:defRPr>
            </a:pPr>
            <a:r>
              <a:rPr sz="750" b="0">
                <a:solidFill>
                  <a:srgbClr val="70858D"/>
                </a:solidFill>
              </a:rPr>
              <a:t>Weight sensitivity · scale fixed at 0.35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6490FF1-A698-4B78-8AD2-85DB4BF09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055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750" b="0">
                <a:solidFill>
                  <a:srgbClr val="70858D"/>
                </a:solidFill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70858D"/>
                </a:solidFill>
              </a:defRPr>
            </a:pPr>
            <a:r>
              <a:rPr sz="750" b="0">
                <a:solidFill>
                  <a:srgbClr val="70858D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937849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19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BE5693F-A444-46DB-AA10-D925B0DB8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91D7BD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91D7BD"/>
                </a:solidFill>
              </a:defRPr>
            </a:pPr>
            <a:r>
              <a:rPr sz="900" b="1">
                <a:solidFill>
                  <a:srgbClr val="91D7BD"/>
                </a:solidFill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3DD52A-178F-4B4A-9562-ADBBA5868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38150"/>
            <a:ext cx="34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05B"/>
          </a:solidFill>
          <a:ln xmlns:a="http://schemas.openxmlformats.org/drawingml/2006/main" w="0">
            <a:solidFill>
              <a:srgbClr val="3150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F6AE05-C1B5-4B0E-83B1-9296550F2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AI interprets the question. Code owns the answer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0F391B-DF13-4DB6-929A-229EEA949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B9C8CD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B9C8CD"/>
                </a:solidFill>
              </a:defRPr>
            </a:pPr>
            <a:r>
              <a:rPr sz="1200" b="0">
                <a:solidFill>
                  <a:srgbClr val="B9C8CD"/>
                </a:solidFill>
              </a:rPr>
              <a:t>The model proposes a bounded plan and never sees source data or computes a figure.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D903C4-F0EA-4EBC-84BD-3B555ED75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84785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1A4452"/>
          </a:solidFill>
          <a:ln xmlns:a="http://schemas.openxmlformats.org/drawingml/2006/main" w="9525">
            <a:solidFill>
              <a:srgbClr val="31505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B2A088-C461-47A9-A928-8EA9D703A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241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91D7BD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91D7BD"/>
                </a:solidFill>
              </a:defRPr>
            </a:pPr>
            <a:r>
              <a:rPr sz="825" b="1">
                <a:solidFill>
                  <a:srgbClr val="91D7BD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9D1527-2F88-4735-AA04-E643582F6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05125"/>
            <a:ext cx="150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5E3886-84E6-404B-9981-EA785B7CC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05175"/>
            <a:ext cx="15049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C7D5D9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C7D5D9"/>
                </a:solidFill>
              </a:defRPr>
            </a:pPr>
            <a:r>
              <a:rPr sz="900" b="0">
                <a:solidFill>
                  <a:srgbClr val="C7D5D9"/>
                </a:solidFill>
              </a:rPr>
              <a:t>Free text + typed follow-up 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71F5FA-91F8-44CD-8178-39DD482A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2781300"/>
            <a:ext cx="361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850" b="1">
                <a:solidFill>
                  <a:srgbClr val="6D8C97"/>
                </a:solidFill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2850" b="1">
                <a:solidFill>
                  <a:srgbClr val="6D8C97"/>
                </a:solidFill>
              </a:defRPr>
            </a:pPr>
            <a:r>
              <a:rPr sz="2850" b="1">
                <a:solidFill>
                  <a:srgbClr val="6D8C97"/>
                </a:solidFill>
              </a:rPr>
              <a:t>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299495-A953-4573-9368-DCDD298BC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381250"/>
            <a:ext cx="184785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D79A33"/>
          </a:solidFill>
          <a:ln xmlns:a="http://schemas.openxmlformats.org/drawingml/2006/main" w="9525">
            <a:solidFill>
              <a:srgbClr val="F2D8A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D49B81-9B2B-4395-BE86-7FCDD4EE6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241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081923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081923"/>
                </a:solidFill>
              </a:defRPr>
            </a:pPr>
            <a:r>
              <a:rPr sz="825" b="1">
                <a:solidFill>
                  <a:srgbClr val="081923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89D5A0-0489-4AC8-A70D-A34DA2A1F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05125"/>
            <a:ext cx="150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081923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81923"/>
                </a:solidFill>
              </a:defRPr>
            </a:pPr>
            <a:r>
              <a:rPr sz="1500" b="1">
                <a:solidFill>
                  <a:srgbClr val="081923"/>
                </a:solidFill>
              </a:rPr>
              <a:t>LLM plan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BA73E3-4B14-4F92-8B4B-2DA3E1351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305175"/>
            <a:ext cx="15049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102A36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102A36"/>
                </a:solidFill>
              </a:defRPr>
            </a:pPr>
            <a:r>
              <a:rPr sz="900" b="0">
                <a:solidFill>
                  <a:srgbClr val="102A36"/>
                </a:solidFill>
              </a:rPr>
              <a:t>Intent, entities, metrics, qualifiers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E3B2F8-FF19-4D2E-AE1E-4CC4B3EFC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2781300"/>
            <a:ext cx="361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850" b="1">
                <a:solidFill>
                  <a:srgbClr val="6D8C97"/>
                </a:solidFill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2850" b="1">
                <a:solidFill>
                  <a:srgbClr val="6D8C97"/>
                </a:solidFill>
              </a:defRPr>
            </a:pPr>
            <a:r>
              <a:rPr sz="2850" b="1">
                <a:solidFill>
                  <a:srgbClr val="6D8C97"/>
                </a:solidFill>
              </a:rPr>
              <a:t>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132F60-CB91-45C0-AD24-0BAB8C689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381250"/>
            <a:ext cx="184785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143542"/>
          </a:solidFill>
          <a:ln xmlns:a="http://schemas.openxmlformats.org/drawingml/2006/main" w="9525">
            <a:solidFill>
              <a:srgbClr val="31505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EE41D7-5760-42C8-B02F-D58410903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5241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91D7BD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91D7BD"/>
                </a:solidFill>
              </a:defRPr>
            </a:pPr>
            <a:r>
              <a:rPr sz="825" b="1">
                <a:solidFill>
                  <a:srgbClr val="91D7BD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5180AC-7D83-4491-9B6D-540865E74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905125"/>
            <a:ext cx="150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Validation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89190C-A7D3-490C-A62B-95B664A58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305175"/>
            <a:ext cx="15049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C7D5D9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C7D5D9"/>
                </a:solidFill>
              </a:defRPr>
            </a:pPr>
            <a:r>
              <a:rPr sz="900" b="0">
                <a:solidFill>
                  <a:srgbClr val="C7D5D9"/>
                </a:solidFill>
              </a:rPr>
              <a:t>Schema, allowlist, grounding, bounds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8484C3-B1C1-41BB-9931-3257ECD07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781300"/>
            <a:ext cx="361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850" b="1">
                <a:solidFill>
                  <a:srgbClr val="6D8C97"/>
                </a:solidFill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2850" b="1">
                <a:solidFill>
                  <a:srgbClr val="6D8C97"/>
                </a:solidFill>
              </a:defRPr>
            </a:pPr>
            <a:r>
              <a:rPr sz="2850" b="1">
                <a:solidFill>
                  <a:srgbClr val="6D8C97"/>
                </a:solidFill>
              </a:rPr>
              <a:t>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8B426F-DA98-4209-BEAE-0728E380D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381250"/>
            <a:ext cx="184785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143542"/>
          </a:solidFill>
          <a:ln xmlns:a="http://schemas.openxmlformats.org/drawingml/2006/main" w="9525">
            <a:solidFill>
              <a:srgbClr val="31505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C2466E-B592-4EA3-8255-5D640BE73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5241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91D7BD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91D7BD"/>
                </a:solidFill>
              </a:defRPr>
            </a:pPr>
            <a:r>
              <a:rPr sz="825" b="1">
                <a:solidFill>
                  <a:srgbClr val="91D7BD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B26768-D57D-4B22-8911-E24B3A394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905125"/>
            <a:ext cx="150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Tools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D0288F-6416-4471-AB7B-A25ED89AE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305175"/>
            <a:ext cx="15049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C7D5D9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C7D5D9"/>
                </a:solidFill>
              </a:defRPr>
            </a:pPr>
            <a:r>
              <a:rPr sz="900" b="0">
                <a:solidFill>
                  <a:srgbClr val="C7D5D9"/>
                </a:solidFill>
              </a:rPr>
              <a:t>Resolver, coverage gate, SQLite facts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6B9CF7-1E57-483B-A0A0-6BB4E1040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781300"/>
            <a:ext cx="361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850" b="1">
                <a:solidFill>
                  <a:srgbClr val="6D8C97"/>
                </a:solidFill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2850" b="1">
                <a:solidFill>
                  <a:srgbClr val="6D8C97"/>
                </a:solidFill>
              </a:defRPr>
            </a:pPr>
            <a:r>
              <a:rPr sz="2850" b="1">
                <a:solidFill>
                  <a:srgbClr val="6D8C97"/>
                </a:solidFill>
              </a:rPr>
              <a:t>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BEC004-A360-4BE0-BDEF-A2D8449DF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381250"/>
            <a:ext cx="184785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143542"/>
          </a:solidFill>
          <a:ln xmlns:a="http://schemas.openxmlformats.org/drawingml/2006/main" w="9525">
            <a:solidFill>
              <a:srgbClr val="31505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B88A74-2903-4BDB-9A88-01772B636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5241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91D7BD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91D7BD"/>
                </a:solidFill>
              </a:defRPr>
            </a:pPr>
            <a:r>
              <a:rPr sz="825" b="1">
                <a:solidFill>
                  <a:srgbClr val="91D7BD"/>
                </a:solidFill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7A7BC4-06BD-40EE-9317-6A2D9520C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905125"/>
            <a:ext cx="150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Answer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47B509-2A9A-40B3-8E42-30A3EFDB0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305175"/>
            <a:ext cx="15049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C7D5D9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C7D5D9"/>
                </a:solidFill>
              </a:defRPr>
            </a:pPr>
            <a:r>
              <a:rPr sz="900" b="0">
                <a:solidFill>
                  <a:srgbClr val="C7D5D9"/>
                </a:solidFill>
              </a:rPr>
              <a:t>Deterministic analytics + citations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666F2A-54B9-4ACB-A1AC-03A7E3D69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24375"/>
            <a:ext cx="15240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83C49"/>
          </a:solidFill>
          <a:ln xmlns:a="http://schemas.openxmlformats.org/drawingml/2006/main" w="9525">
            <a:solidFill>
              <a:srgbClr val="31505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729591D-63C9-480D-965D-19E831EFA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543425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825" b="1">
                <a:solidFill>
                  <a:srgbClr val="91D7BD"/>
                </a:solidFill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91D7BD"/>
                </a:solidFill>
              </a:defRPr>
            </a:pPr>
            <a:r>
              <a:rPr sz="825" b="1">
                <a:solidFill>
                  <a:srgbClr val="91D7BD"/>
                </a:solidFill>
              </a:rPr>
              <a:t>≤ 3 operations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1C33FA2-F19D-4380-8EC1-098C7FEBF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524375"/>
            <a:ext cx="1428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83C49"/>
          </a:solidFill>
          <a:ln xmlns:a="http://schemas.openxmlformats.org/drawingml/2006/main" w="9525">
            <a:solidFill>
              <a:srgbClr val="31505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FEA636-2EF1-4FDF-82F9-67D9DEEC9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543425"/>
            <a:ext cx="1276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825" b="1">
                <a:solidFill>
                  <a:srgbClr val="91D7BD"/>
                </a:solidFill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91D7BD"/>
                </a:solidFill>
              </a:defRPr>
            </a:pPr>
            <a:r>
              <a:rPr sz="825" b="1">
                <a:solidFill>
                  <a:srgbClr val="91D7BD"/>
                </a:solidFill>
              </a:rPr>
              <a:t>≤ 10 entities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97301A9-C95F-4AC8-A8CF-B08F8401C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524375"/>
            <a:ext cx="12573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83C49"/>
          </a:solidFill>
          <a:ln xmlns:a="http://schemas.openxmlformats.org/drawingml/2006/main" w="9525">
            <a:solidFill>
              <a:srgbClr val="31505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D727578-F7F8-464F-A18F-7FC7E785D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543425"/>
            <a:ext cx="1104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825" b="1">
                <a:solidFill>
                  <a:srgbClr val="91D7BD"/>
                </a:solidFill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91D7BD"/>
                </a:solidFill>
              </a:defRPr>
            </a:pPr>
            <a:r>
              <a:rPr sz="825" b="1">
                <a:solidFill>
                  <a:srgbClr val="91D7BD"/>
                </a:solidFill>
              </a:rPr>
              <a:t>15s timeout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6B49661-23D1-41C9-8104-F948F5D9F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524375"/>
            <a:ext cx="16383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83C49"/>
          </a:solidFill>
          <a:ln xmlns:a="http://schemas.openxmlformats.org/drawingml/2006/main" w="9525">
            <a:solidFill>
              <a:srgbClr val="31505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F90AD6D-3422-4582-9747-050D75CA2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543425"/>
            <a:ext cx="1485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825" b="1">
                <a:solidFill>
                  <a:srgbClr val="91D7BD"/>
                </a:solidFill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91D7BD"/>
                </a:solidFill>
              </a:defRPr>
            </a:pPr>
            <a:r>
              <a:rPr sz="825" b="1">
                <a:solidFill>
                  <a:srgbClr val="91D7BD"/>
                </a:solidFill>
              </a:rPr>
              <a:t>one call per turn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24E19A1-0232-49FD-9410-E904C1607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524375"/>
            <a:ext cx="15811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83C49"/>
          </a:solidFill>
          <a:ln xmlns:a="http://schemas.openxmlformats.org/drawingml/2006/main" w="9525">
            <a:solidFill>
              <a:srgbClr val="31505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4722919-E42F-4A75-A6E1-70C040152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54342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825" b="1">
                <a:solidFill>
                  <a:srgbClr val="91D7BD"/>
                </a:solidFill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91D7BD"/>
                </a:solidFill>
              </a:defRPr>
            </a:pPr>
            <a:r>
              <a:rPr sz="825" b="1">
                <a:solidFill>
                  <a:srgbClr val="91D7BD"/>
                </a:solidFill>
              </a:rPr>
              <a:t>fallback labeled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7D1D56B-638D-4140-BFEF-5E887ED8A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19700"/>
            <a:ext cx="914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Any invalid field rejects the whole plan. The server re-resolves every airport and selects the function from a fixed metric map.</a:t>
            </a:r>
          </a:p>
        </p:txBody>
      </p:sp>
    </p:spTree>
    <p:extLst>
      <p:ext uri="{BB962C8B-B14F-4D97-AF65-F5344CB8AC3E}">
        <p14:creationId xmlns:p14="http://schemas.microsoft.com/office/powerpoint/2010/main" val="17363773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A3D898-856A-43B4-B00B-D8F2E5470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2B8A68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2B8A68"/>
                </a:solidFill>
              </a:defRPr>
            </a:pPr>
            <a:r>
              <a:rPr sz="900" b="1">
                <a:solidFill>
                  <a:srgbClr val="2B8A68"/>
                </a:solidFill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75F62C-C931-4E69-9F42-10D8A37A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38150"/>
            <a:ext cx="34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DF"/>
          </a:solidFill>
          <a:ln xmlns:a="http://schemas.openxmlformats.org/drawingml/2006/main" w="0">
            <a:solidFill>
              <a:srgbClr val="D9E2D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102491-416C-4B77-8C6F-CA76E92D7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10232C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0232C"/>
                </a:solidFill>
              </a:defRPr>
            </a:pPr>
            <a:r>
              <a:rPr sz="2550" b="1">
                <a:solidFill>
                  <a:srgbClr val="10232C"/>
                </a:solidFill>
              </a:rPr>
              <a:t>A data gap becomes a typed result, not a fabricated answer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0BE1F3-F94D-4C15-BB83-F46403BED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425760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425760"/>
                </a:solidFill>
              </a:defRPr>
            </a:pPr>
            <a:r>
              <a:rPr sz="1200" b="0">
                <a:solidFill>
                  <a:srgbClr val="425760"/>
                </a:solidFill>
              </a:rPr>
              <a:t>The client sees exactly how much evidence supports the response.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226556-497B-4E90-A1DD-C8DEC51C1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143250"/>
            <a:ext cx="9810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AC6"/>
          </a:solidFill>
          <a:ln xmlns:a="http://schemas.openxmlformats.org/drawingml/2006/main" w="0">
            <a:solidFill>
              <a:srgbClr val="BCCAC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A9710A-895F-401A-B0CA-78EA0349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003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8A68"/>
          </a:solidFill>
          <a:ln xmlns:a="http://schemas.openxmlformats.org/drawingml/2006/main" w="0">
            <a:solidFill>
              <a:srgbClr val="2B8A6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540BF6-FEC8-4423-8908-A78CA662F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33362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2B8A68"/>
                </a:solidFill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2B8A68"/>
                </a:solidFill>
              </a:defRPr>
            </a:pPr>
            <a:r>
              <a:rPr sz="1275" b="1">
                <a:solidFill>
                  <a:srgbClr val="2B8A68"/>
                </a:solidFill>
              </a:rPr>
              <a:t>computed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AEBF17-C729-416A-BD1C-0D758A38D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476625"/>
            <a:ext cx="1752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0">
                <a:solidFill>
                  <a:srgbClr val="425760"/>
                </a:solidFill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975" b="0">
                <a:solidFill>
                  <a:srgbClr val="425760"/>
                </a:solidFill>
              </a:defRPr>
            </a:pPr>
            <a:r>
              <a:rPr sz="975" b="0">
                <a:solidFill>
                  <a:srgbClr val="425760"/>
                </a:solidFill>
              </a:rPr>
              <a:t>Full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1AB987-4A24-493B-8706-A9403D9B9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38" y="30003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6E9B"/>
          </a:solidFill>
          <a:ln xmlns:a="http://schemas.openxmlformats.org/drawingml/2006/main" w="0">
            <a:solidFill>
              <a:srgbClr val="3A6E9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B48EF9-0BC7-4B1D-B35F-7A57678C6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8938" y="233362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3A6E9B"/>
                </a:solidFill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3A6E9B"/>
                </a:solidFill>
              </a:defRPr>
            </a:pPr>
            <a:r>
              <a:rPr sz="1275" b="1">
                <a:solidFill>
                  <a:srgbClr val="3A6E9B"/>
                </a:solidFill>
              </a:rPr>
              <a:t>partial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E83061-03F2-4CD7-9005-C4827D708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7013" y="3476625"/>
            <a:ext cx="1752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0">
                <a:solidFill>
                  <a:srgbClr val="425760"/>
                </a:solidFill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975" b="0">
                <a:solidFill>
                  <a:srgbClr val="425760"/>
                </a:solidFill>
              </a:defRPr>
            </a:pPr>
            <a:r>
              <a:rPr sz="975" b="0">
                <a:solidFill>
                  <a:srgbClr val="425760"/>
                </a:solidFill>
              </a:rPr>
              <a:t>Useful facts + named gap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A4D72A-05C7-4FED-BEEB-A6B7EA94B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0003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9A33"/>
          </a:solidFill>
          <a:ln xmlns:a="http://schemas.openxmlformats.org/drawingml/2006/main" w="0">
            <a:solidFill>
              <a:srgbClr val="D79A3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948E03-7297-469E-A44A-3C82FED27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33362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D79A33"/>
                </a:solidFill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D79A33"/>
                </a:solidFill>
              </a:defRPr>
            </a:pPr>
            <a:r>
              <a:rPr sz="1275" b="1">
                <a:solidFill>
                  <a:srgbClr val="D79A33"/>
                </a:solidFill>
              </a:rPr>
              <a:t>insufficient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18E4F5-D3A5-4F6A-B800-EAED68908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476625"/>
            <a:ext cx="1752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0">
                <a:solidFill>
                  <a:srgbClr val="425760"/>
                </a:solidFill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975" b="0">
                <a:solidFill>
                  <a:srgbClr val="425760"/>
                </a:solidFill>
              </a:defRPr>
            </a:pPr>
            <a:r>
              <a:rPr sz="975" b="0">
                <a:solidFill>
                  <a:srgbClr val="425760"/>
                </a:solidFill>
              </a:rPr>
              <a:t>Source absent for scope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922D9B-27FD-4FE7-9B2E-A820DC7D4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5813" y="30003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6E9E"/>
          </a:solidFill>
          <a:ln xmlns:a="http://schemas.openxmlformats.org/drawingml/2006/main" w="0">
            <a:solidFill>
              <a:srgbClr val="8A6E9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5BE293-D09E-4D12-A420-920594C61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4313" y="233362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8A6E9E"/>
                </a:solidFill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8A6E9E"/>
                </a:solidFill>
              </a:defRPr>
            </a:pPr>
            <a:r>
              <a:rPr sz="1275" b="1">
                <a:solidFill>
                  <a:srgbClr val="8A6E9E"/>
                </a:solidFill>
              </a:rPr>
              <a:t>clarify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C6DC0F-645D-4B20-B0B4-DCEE03E60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2388" y="3476625"/>
            <a:ext cx="1752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0">
                <a:solidFill>
                  <a:srgbClr val="425760"/>
                </a:solidFill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975" b="0">
                <a:solidFill>
                  <a:srgbClr val="425760"/>
                </a:solidFill>
              </a:defRPr>
            </a:pPr>
            <a:r>
              <a:rPr sz="975" b="0">
                <a:solidFill>
                  <a:srgbClr val="425760"/>
                </a:solidFill>
              </a:rPr>
              <a:t>Ambiguous place or qualifier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954D3F-917F-4121-AB4B-9E5A20FAF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0003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B5A55"/>
          </a:solidFill>
          <a:ln xmlns:a="http://schemas.openxmlformats.org/drawingml/2006/main" w="0">
            <a:solidFill>
              <a:srgbClr val="BB5A5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C5CEF1-E4F4-4A75-9F2B-610527EE4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33362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BB5A55"/>
                </a:solidFill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BB5A55"/>
                </a:solidFill>
              </a:defRPr>
            </a:pPr>
            <a:r>
              <a:rPr sz="1275" b="1">
                <a:solidFill>
                  <a:srgbClr val="BB5A55"/>
                </a:solidFill>
              </a:rPr>
              <a:t>out of scope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35C672-0AFA-40E2-8FC0-88AA02EE7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3476625"/>
            <a:ext cx="1752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0">
                <a:solidFill>
                  <a:srgbClr val="425760"/>
                </a:solidFill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975" b="0">
                <a:solidFill>
                  <a:srgbClr val="425760"/>
                </a:solidFill>
              </a:defRPr>
            </a:pPr>
            <a:r>
              <a:rPr sz="975" b="0">
                <a:solidFill>
                  <a:srgbClr val="425760"/>
                </a:solidFill>
              </a:rPr>
              <a:t>Foreign or unsupported metric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E6CA00-F7C8-4AC1-AE35-374A8F73C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762500"/>
            <a:ext cx="828675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D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1CC90C-DBC7-4F7B-9A5E-9C6966B5F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9339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2B8A68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2B8A68"/>
                </a:solidFill>
              </a:defRPr>
            </a:pPr>
            <a:r>
              <a:rPr sz="1575" b="1">
                <a:solidFill>
                  <a:srgbClr val="2B8A68"/>
                </a:solidFill>
              </a:rPr>
              <a:t>No fabricated number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ADF739-4347-4E02-A5E9-E5C2FE308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48225"/>
            <a:ext cx="5095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0232C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232C"/>
                </a:solidFill>
              </a:defRPr>
            </a:pPr>
            <a:r>
              <a:rPr sz="1200" b="0">
                <a:solidFill>
                  <a:srgbClr val="10232C"/>
                </a:solidFill>
              </a:rPr>
              <a:t>Every visible figure must trace to a structured field, a user input, or a documented template constant.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56F744-28BB-473F-9621-EB4F0BF94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6D2"/>
          </a:solidFill>
          <a:ln xmlns:a="http://schemas.openxmlformats.org/drawingml/2006/main" w="0">
            <a:solidFill>
              <a:srgbClr val="C9D6D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83CB16-C202-46A0-BBF4-F2AF7ECC5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70858D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0858D"/>
                </a:solidFill>
              </a:defRPr>
            </a:pPr>
            <a:r>
              <a:rPr sz="750" b="0">
                <a:solidFill>
                  <a:srgbClr val="70858D"/>
                </a:solidFill>
              </a:rPr>
              <a:t>Airport Investment Intelligence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8C35B1-2497-46E2-93CC-1EE13DF41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055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750" b="0">
                <a:solidFill>
                  <a:srgbClr val="70858D"/>
                </a:solidFill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70858D"/>
                </a:solidFill>
              </a:defRPr>
            </a:pPr>
            <a:r>
              <a:rPr sz="750" b="0">
                <a:solidFill>
                  <a:srgbClr val="70858D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604822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B7BB934-3BAE-479D-B06D-ADF875DF4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2B8A68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2B8A68"/>
                </a:solidFill>
              </a:defRPr>
            </a:pPr>
            <a:r>
              <a:rPr sz="900" b="1">
                <a:solidFill>
                  <a:srgbClr val="2B8A68"/>
                </a:solidFill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846B60-610A-4E32-BE45-750322E4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38150"/>
            <a:ext cx="34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DF"/>
          </a:solidFill>
          <a:ln xmlns:a="http://schemas.openxmlformats.org/drawingml/2006/main" w="0">
            <a:solidFill>
              <a:srgbClr val="D9E2D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6E50EE-E1C9-4F47-8F8D-B4130C4AE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10232C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0232C"/>
                </a:solidFill>
              </a:defRPr>
            </a:pPr>
            <a:r>
              <a:rPr sz="2550" b="1">
                <a:solidFill>
                  <a:srgbClr val="10232C"/>
                </a:solidFill>
              </a:rPr>
              <a:t>Versioned source runs keep the demo reproducible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5332CD-12C0-47A2-9EE2-0915E5A21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425760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425760"/>
                </a:solidFill>
              </a:defRPr>
            </a:pPr>
            <a:r>
              <a:rPr sz="1200" b="0">
                <a:solidFill>
                  <a:srgbClr val="425760"/>
                </a:solidFill>
              </a:rPr>
              <a:t>A refresh validates a candidate dataset before one atomic pointer switch.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4FC2B2-0C0C-46D1-A2E2-4FAE7C34A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179070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1F4F2"/>
          </a:solidFill>
          <a:ln xmlns:a="http://schemas.openxmlformats.org/drawingml/2006/main" w="9525">
            <a:solidFill>
              <a:srgbClr val="D9E2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99C916-51C7-4C21-8B7F-9FEDAECC0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2B8A68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2B8A68"/>
                </a:solidFill>
              </a:defRPr>
            </a:pPr>
            <a:r>
              <a:rPr sz="825" b="1">
                <a:solidFill>
                  <a:srgbClr val="2B8A68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32A7F8-E512-42E9-8C51-5AADD7551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95600"/>
            <a:ext cx="1447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32C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0232C"/>
                </a:solidFill>
              </a:defRPr>
            </a:pPr>
            <a:r>
              <a:rPr sz="1350" b="1">
                <a:solidFill>
                  <a:srgbClr val="10232C"/>
                </a:solidFill>
              </a:rPr>
              <a:t>Official 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C0E81A-A16A-4693-9415-D3A45802B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67075"/>
            <a:ext cx="144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0">
                <a:solidFill>
                  <a:srgbClr val="425760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425760"/>
                </a:solidFill>
              </a:defRPr>
            </a:pPr>
            <a:r>
              <a:rPr sz="975" b="0">
                <a:solidFill>
                  <a:srgbClr val="425760"/>
                </a:solidFill>
              </a:rPr>
              <a:t>BTS / FAA export or API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F8E89C-EE5E-4D9F-8642-893428784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809875"/>
            <a:ext cx="400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700" b="1">
                <a:solidFill>
                  <a:srgbClr val="70858D"/>
                </a:solidFill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2700" b="1">
                <a:solidFill>
                  <a:srgbClr val="70858D"/>
                </a:solidFill>
              </a:defRPr>
            </a:pPr>
            <a:r>
              <a:rPr sz="2700" b="1">
                <a:solidFill>
                  <a:srgbClr val="70858D"/>
                </a:solidFill>
              </a:rPr>
              <a:t>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E96AAA-F402-43A3-BB45-6CF352048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428875"/>
            <a:ext cx="179070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1F4F2"/>
          </a:solidFill>
          <a:ln xmlns:a="http://schemas.openxmlformats.org/drawingml/2006/main" w="9525">
            <a:solidFill>
              <a:srgbClr val="D9E2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EE3499-AB0F-4E23-A455-C26A9D01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7175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2B8A68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2B8A68"/>
                </a:solidFill>
              </a:defRPr>
            </a:pPr>
            <a:r>
              <a:rPr sz="825" b="1">
                <a:solidFill>
                  <a:srgbClr val="2B8A68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493559-E005-45FE-8225-DB5980FA0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95600"/>
            <a:ext cx="1447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32C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0232C"/>
                </a:solidFill>
              </a:defRPr>
            </a:pPr>
            <a:r>
              <a:rPr sz="1350" b="1">
                <a:solidFill>
                  <a:srgbClr val="10232C"/>
                </a:solidFill>
              </a:rPr>
              <a:t>Candidate run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0C3E80-0A0E-4746-9E41-D16ACF2C1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67075"/>
            <a:ext cx="144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0">
                <a:solidFill>
                  <a:srgbClr val="425760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425760"/>
                </a:solidFill>
              </a:defRPr>
            </a:pPr>
            <a:r>
              <a:rPr sz="975" b="0">
                <a:solidFill>
                  <a:srgbClr val="425760"/>
                </a:solidFill>
              </a:rPr>
              <a:t>URL, period, SHA-256, rows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CCE752-C17D-44A6-BFC9-541CA9B68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809875"/>
            <a:ext cx="400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700" b="1">
                <a:solidFill>
                  <a:srgbClr val="70858D"/>
                </a:solidFill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2700" b="1">
                <a:solidFill>
                  <a:srgbClr val="70858D"/>
                </a:solidFill>
              </a:defRPr>
            </a:pPr>
            <a:r>
              <a:rPr sz="2700" b="1">
                <a:solidFill>
                  <a:srgbClr val="70858D"/>
                </a:solidFill>
              </a:rPr>
              <a:t>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5CBDB4-DED0-454B-AAC8-E9959F4CD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428875"/>
            <a:ext cx="179070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1F4F2"/>
          </a:solidFill>
          <a:ln xmlns:a="http://schemas.openxmlformats.org/drawingml/2006/main" w="9525">
            <a:solidFill>
              <a:srgbClr val="D9E2D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C790C3-9DAE-41A7-9976-30850A989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57175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2B8A68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2B8A68"/>
                </a:solidFill>
              </a:defRPr>
            </a:pPr>
            <a:r>
              <a:rPr sz="825" b="1">
                <a:solidFill>
                  <a:srgbClr val="2B8A68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84950D-D5FF-46B8-AF3F-74A140B83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895600"/>
            <a:ext cx="1447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32C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0232C"/>
                </a:solidFill>
              </a:defRPr>
            </a:pPr>
            <a:r>
              <a:rPr sz="1350" b="1">
                <a:solidFill>
                  <a:srgbClr val="10232C"/>
                </a:solidFill>
              </a:rPr>
              <a:t>Validation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1CA83A-3F9D-44EA-B1FD-28FC2288A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267075"/>
            <a:ext cx="144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0">
                <a:solidFill>
                  <a:srgbClr val="425760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425760"/>
                </a:solidFill>
              </a:defRPr>
            </a:pPr>
            <a:r>
              <a:rPr sz="975" b="0">
                <a:solidFill>
                  <a:srgbClr val="425760"/>
                </a:solidFill>
              </a:rPr>
              <a:t>Schema, floors, duplicates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9D9B11-B43A-4F2B-98A1-AF9EFDA66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09875"/>
            <a:ext cx="400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700" b="1">
                <a:solidFill>
                  <a:srgbClr val="70858D"/>
                </a:solidFill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2700" b="1">
                <a:solidFill>
                  <a:srgbClr val="70858D"/>
                </a:solidFill>
              </a:defRPr>
            </a:pPr>
            <a:r>
              <a:rPr sz="2700" b="1">
                <a:solidFill>
                  <a:srgbClr val="70858D"/>
                </a:solidFill>
              </a:rPr>
              <a:t>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43A435-D445-45DE-B9D9-78A7735E2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428875"/>
            <a:ext cx="179070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4F2ED"/>
          </a:solidFill>
          <a:ln xmlns:a="http://schemas.openxmlformats.org/drawingml/2006/main" w="19050">
            <a:solidFill>
              <a:srgbClr val="91D7B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226BAB-A377-4D0F-8A74-5B5C65840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57175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2B8A68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2B8A68"/>
                </a:solidFill>
              </a:defRPr>
            </a:pPr>
            <a:r>
              <a:rPr sz="825" b="1">
                <a:solidFill>
                  <a:srgbClr val="2B8A68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F1AFFA-AB00-4E56-8F2D-8E8C2E5F7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895600"/>
            <a:ext cx="1447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32C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0232C"/>
                </a:solidFill>
              </a:defRPr>
            </a:pPr>
            <a:r>
              <a:rPr sz="1350" b="1">
                <a:solidFill>
                  <a:srgbClr val="10232C"/>
                </a:solidFill>
              </a:rPr>
              <a:t>Active pointer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213546-CC01-4933-99DC-07C6C4693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267075"/>
            <a:ext cx="144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0">
                <a:solidFill>
                  <a:srgbClr val="425760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425760"/>
                </a:solidFill>
              </a:defRPr>
            </a:pPr>
            <a:r>
              <a:rPr sz="975" b="0">
                <a:solidFill>
                  <a:srgbClr val="425760"/>
                </a:solidFill>
              </a:rPr>
              <a:t>One transaction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6A4165-8CAA-4B26-9B64-B221470DF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809875"/>
            <a:ext cx="400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700" b="1">
                <a:solidFill>
                  <a:srgbClr val="70858D"/>
                </a:solidFill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2700" b="1">
                <a:solidFill>
                  <a:srgbClr val="70858D"/>
                </a:solidFill>
              </a:defRPr>
            </a:pPr>
            <a:r>
              <a:rPr sz="2700" b="1">
                <a:solidFill>
                  <a:srgbClr val="70858D"/>
                </a:solidFill>
              </a:rPr>
              <a:t>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B22448-7976-492B-93AB-781EC0AB4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428875"/>
            <a:ext cx="179070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1F4F2"/>
          </a:solidFill>
          <a:ln xmlns:a="http://schemas.openxmlformats.org/drawingml/2006/main" w="9525">
            <a:solidFill>
              <a:srgbClr val="D9E2D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F61635-CBB3-4C1D-8326-BD29B8963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57175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2B8A68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2B8A68"/>
                </a:solidFill>
              </a:defRPr>
            </a:pPr>
            <a:r>
              <a:rPr sz="825" b="1">
                <a:solidFill>
                  <a:srgbClr val="2B8A68"/>
                </a:solidFill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DDB073-753F-4817-AB9B-503D354BD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895600"/>
            <a:ext cx="1447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32C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0232C"/>
                </a:solidFill>
              </a:defRPr>
            </a:pPr>
            <a:r>
              <a:rPr sz="1350" b="1">
                <a:solidFill>
                  <a:srgbClr val="10232C"/>
                </a:solidFill>
              </a:rPr>
              <a:t>Scoped facts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B1A86E-F022-4821-8B38-3A7FA3CA4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267075"/>
            <a:ext cx="144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0">
                <a:solidFill>
                  <a:srgbClr val="425760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425760"/>
                </a:solidFill>
              </a:defRPr>
            </a:pPr>
            <a:r>
              <a:rPr sz="975" b="0">
                <a:solidFill>
                  <a:srgbClr val="425760"/>
                </a:solidFill>
              </a:rPr>
              <a:t>Parameterized reads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816D01-17DB-4B7B-AB86-96E1EEF03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72000"/>
            <a:ext cx="5905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6E5"/>
          </a:solidFill>
          <a:ln xmlns:a="http://schemas.openxmlformats.org/drawingml/2006/main" w="9525">
            <a:solidFill>
              <a:srgbClr val="F2D8A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421C5B-3B05-41D3-9960-8CC5D7980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70535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D79A33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D79A33"/>
                </a:solidFill>
              </a:defRPr>
            </a:pPr>
            <a:r>
              <a:rPr sz="1200" b="1">
                <a:solidFill>
                  <a:srgbClr val="D79A33"/>
                </a:solidFill>
              </a:rPr>
              <a:t>Failed refresh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880DE20-341C-4575-AA92-C22517E1A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676775"/>
            <a:ext cx="3857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10232C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0232C"/>
                </a:solidFill>
              </a:defRPr>
            </a:pPr>
            <a:r>
              <a:rPr sz="1125" b="0">
                <a:solidFill>
                  <a:srgbClr val="10232C"/>
                </a:solidFill>
              </a:rPr>
              <a:t>The last-good run stays active and /health reports the failure.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3DB7603-986F-43A8-8032-1D58BBB60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695950"/>
            <a:ext cx="681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2B8A68"/>
                </a:solidFill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2B8A68"/>
                </a:solidFill>
              </a:defRPr>
            </a:pPr>
            <a:r>
              <a:rPr sz="1200" b="1">
                <a:solidFill>
                  <a:srgbClr val="2B8A68"/>
                </a:solidFill>
              </a:rPr>
              <a:t>SQLite is the system of record. snapshot.json only bootstraps the first run.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B9EB38E-063F-46CA-9019-E67F0AA06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6D2"/>
          </a:solidFill>
          <a:ln xmlns:a="http://schemas.openxmlformats.org/drawingml/2006/main" w="0">
            <a:solidFill>
              <a:srgbClr val="C9D6D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338E609-7B1E-41A9-80D1-B8642CD67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70858D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0858D"/>
                </a:solidFill>
              </a:defRPr>
            </a:pPr>
            <a:r>
              <a:rPr sz="750" b="0">
                <a:solidFill>
                  <a:srgbClr val="70858D"/>
                </a:solidFill>
              </a:rPr>
              <a:t>Airport Investment Intelligence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7AF4280-8853-42E3-A527-9C7144416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055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750" b="0">
                <a:solidFill>
                  <a:srgbClr val="70858D"/>
                </a:solidFill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70858D"/>
                </a:solidFill>
              </a:defRPr>
            </a:pPr>
            <a:r>
              <a:rPr sz="750" b="0">
                <a:solidFill>
                  <a:srgbClr val="70858D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13747047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419D899-8FE6-4003-8C17-1C92C79AA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2B8A68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2B8A68"/>
                </a:solidFill>
              </a:defRPr>
            </a:pPr>
            <a:r>
              <a:rPr sz="900" b="1">
                <a:solidFill>
                  <a:srgbClr val="2B8A68"/>
                </a:solidFill>
              </a:rPr>
              <a:t>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B2F214-3249-4316-AB0F-CF4BEA8AA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38150"/>
            <a:ext cx="34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DF"/>
          </a:solidFill>
          <a:ln xmlns:a="http://schemas.openxmlformats.org/drawingml/2006/main" w="0">
            <a:solidFill>
              <a:srgbClr val="D9E2D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83AA43-EA8A-4361-A6E7-5B306D312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10232C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0232C"/>
                </a:solidFill>
              </a:defRPr>
            </a:pPr>
            <a:r>
              <a:rPr sz="2550" b="1">
                <a:solidFill>
                  <a:srgbClr val="10232C"/>
                </a:solidFill>
              </a:rPr>
              <a:t>The design favors traceability and a dependable demo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6A8863-5A54-42B6-B380-822BB8CE4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425760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425760"/>
                </a:solidFill>
              </a:defRPr>
            </a:pPr>
            <a:r>
              <a:rPr sz="1200" b="0">
                <a:solidFill>
                  <a:srgbClr val="425760"/>
                </a:solidFill>
              </a:rPr>
              <a:t>Each shortcut has a clear trigger for replacement.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447942-1462-48B7-88C1-F22C0259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828675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7C7966-D943-420A-9466-7A901BAF7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620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A68"/>
          </a:solidFill>
          <a:ln xmlns:a="http://schemas.openxmlformats.org/drawingml/2006/main" w="0">
            <a:solidFill>
              <a:srgbClr val="2B8A6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9F5EE6-ECB9-4F79-85B6-1D40E49AB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14525"/>
            <a:ext cx="3286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32C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0232C"/>
                </a:solidFill>
              </a:defRPr>
            </a:pPr>
            <a:r>
              <a:rPr sz="1350" b="1">
                <a:solidFill>
                  <a:srgbClr val="10232C"/>
                </a:solidFill>
              </a:rPr>
              <a:t>Workflow over autonomous agent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EAC685-3F63-4625-8001-871FFAEA6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914525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425760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25760"/>
                </a:solidFill>
              </a:defRPr>
            </a:pPr>
            <a:r>
              <a:rPr sz="1125" b="0">
                <a:solidFill>
                  <a:srgbClr val="425760"/>
                </a:solidFill>
              </a:rPr>
              <a:t>Keeps every number reproducible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C7571A-8704-438A-997C-DE6C5019A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1914525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2B8A68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2B8A68"/>
                </a:solidFill>
              </a:defRPr>
            </a:pPr>
            <a:r>
              <a:rPr sz="1050" b="1">
                <a:solidFill>
                  <a:srgbClr val="2B8A68"/>
                </a:solidFill>
              </a:rPr>
              <a:t>Revisit for multi-step research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3EE073-4A9C-4E58-86BD-8191BEC7E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28925"/>
            <a:ext cx="10820400" cy="828675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8D8601-E304-40DA-B297-28ADCFB3F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28925"/>
            <a:ext cx="7620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A68"/>
          </a:solidFill>
          <a:ln xmlns:a="http://schemas.openxmlformats.org/drawingml/2006/main" w="0">
            <a:solidFill>
              <a:srgbClr val="2B8A6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0EB1DC-6494-43FA-A3FA-91363B516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52750"/>
            <a:ext cx="3286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32C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0232C"/>
                </a:solidFill>
              </a:defRPr>
            </a:pPr>
            <a:r>
              <a:rPr sz="1350" b="1">
                <a:solidFill>
                  <a:srgbClr val="10232C"/>
                </a:solidFill>
              </a:rPr>
              <a:t>Bundled official exports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359EEC-C6C6-4B10-A7E9-DF9047D22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952750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425760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25760"/>
                </a:solidFill>
              </a:defRPr>
            </a:pPr>
            <a:r>
              <a:rPr sz="1125" b="0">
                <a:solidFill>
                  <a:srgbClr val="425760"/>
                </a:solidFill>
              </a:rPr>
              <a:t>Avoids fragile demo-time scraping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ED2901-D2AA-4533-87C0-C7B6E55E8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95275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2B8A68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2B8A68"/>
                </a:solidFill>
              </a:defRPr>
            </a:pPr>
            <a:r>
              <a:rPr sz="1050" b="1">
                <a:solidFill>
                  <a:srgbClr val="2B8A68"/>
                </a:solidFill>
              </a:rPr>
              <a:t>Revisit when freshness matters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E78827-5C5F-4F29-A91C-F5EF1BA50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10820400" cy="828675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D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B66572-2395-497F-91A6-8349CF30C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7620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6E9B"/>
          </a:solidFill>
          <a:ln xmlns:a="http://schemas.openxmlformats.org/drawingml/2006/main" w="0">
            <a:solidFill>
              <a:srgbClr val="3A6E9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3A6232-E6B1-4D6B-9FB9-DF916C1C9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90975"/>
            <a:ext cx="3286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32C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0232C"/>
                </a:solidFill>
              </a:defRPr>
            </a:pPr>
            <a:r>
              <a:rPr sz="1350" b="1">
                <a:solidFill>
                  <a:srgbClr val="10232C"/>
                </a:solidFill>
              </a:rPr>
              <a:t>SQLite on one node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266BB5-EB26-4664-A10B-709447A35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990975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425760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25760"/>
                </a:solidFill>
              </a:defRPr>
            </a:pPr>
            <a:r>
              <a:rPr sz="1125" b="0">
                <a:solidFill>
                  <a:srgbClr val="425760"/>
                </a:solidFill>
              </a:rPr>
              <a:t>Inspectable, atomic, zero setup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F3FE3B-9355-45DD-8405-9A7A6DE6C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3990975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2B8A68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2B8A68"/>
                </a:solidFill>
              </a:defRPr>
            </a:pPr>
            <a:r>
              <a:rPr sz="1050" b="1">
                <a:solidFill>
                  <a:srgbClr val="2B8A68"/>
                </a:solidFill>
              </a:rPr>
              <a:t>Revisit for multi-instance writes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BC7186-DEA9-42B0-A133-C12B3FA33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5375"/>
            <a:ext cx="10820400" cy="828675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D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AD132A-56DD-455B-973A-67BAD5585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5375"/>
            <a:ext cx="7620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A33"/>
          </a:solidFill>
          <a:ln xmlns:a="http://schemas.openxmlformats.org/drawingml/2006/main" w="0">
            <a:solidFill>
              <a:srgbClr val="D79A3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44A920-DB87-4DCB-BEB4-CBE9C898F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29200"/>
            <a:ext cx="3286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32C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0232C"/>
                </a:solidFill>
              </a:defRPr>
            </a:pPr>
            <a:r>
              <a:rPr sz="1350" b="1">
                <a:solidFill>
                  <a:srgbClr val="10232C"/>
                </a:solidFill>
              </a:rPr>
              <a:t>No answer cache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486674-9617-4A03-9ED8-588241ED5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5029200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425760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25760"/>
                </a:solidFill>
              </a:defRPr>
            </a:pPr>
            <a:r>
              <a:rPr sz="1125" b="0">
                <a:solidFill>
                  <a:srgbClr val="425760"/>
                </a:solidFill>
              </a:rPr>
              <a:t>Queries are cheap; stale context is costly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30D3E1-490D-4F6A-B53D-354871D2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502920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2B8A68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2B8A68"/>
                </a:solidFill>
              </a:defRPr>
            </a:pPr>
            <a:r>
              <a:rPr sz="1050" b="1">
                <a:solidFill>
                  <a:srgbClr val="2B8A68"/>
                </a:solidFill>
              </a:rPr>
              <a:t>Revisit with latency evidence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7976CF-4000-4C2B-9823-FDE2E81DF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495425"/>
            <a:ext cx="3286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70858D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70858D"/>
                </a:solidFill>
              </a:defRPr>
            </a:pPr>
            <a:r>
              <a:rPr sz="750" b="1">
                <a:solidFill>
                  <a:srgbClr val="70858D"/>
                </a:solidFill>
              </a:rPr>
              <a:t>Decision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02AA4A-2FD9-4039-816A-54163DDF0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4954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70858D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70858D"/>
                </a:solidFill>
              </a:defRPr>
            </a:pPr>
            <a:r>
              <a:rPr sz="750" b="1">
                <a:solidFill>
                  <a:srgbClr val="70858D"/>
                </a:solidFill>
              </a:rPr>
              <a:t>Why now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BFA1A8-E292-4229-ADE7-66E84568F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1495425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70858D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70858D"/>
                </a:solidFill>
              </a:defRPr>
            </a:pPr>
            <a:r>
              <a:rPr sz="750" b="1">
                <a:solidFill>
                  <a:srgbClr val="70858D"/>
                </a:solidFill>
              </a:rPr>
              <a:t>Replacement trigger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EB37FE-8B3C-44E3-8506-874246609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6D2"/>
          </a:solidFill>
          <a:ln xmlns:a="http://schemas.openxmlformats.org/drawingml/2006/main" w="0">
            <a:solidFill>
              <a:srgbClr val="C9D6D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922C2AB-9CF5-4601-8BF6-75C1FFA0A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70858D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0858D"/>
                </a:solidFill>
              </a:defRPr>
            </a:pPr>
            <a:r>
              <a:rPr sz="750" b="0">
                <a:solidFill>
                  <a:srgbClr val="70858D"/>
                </a:solidFill>
              </a:rPr>
              <a:t>Time-boxed architecture decisions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87D0D0-802B-4050-B708-5A8ED5FB5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055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750" b="0">
                <a:solidFill>
                  <a:srgbClr val="70858D"/>
                </a:solidFill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70858D"/>
                </a:solidFill>
              </a:defRPr>
            </a:pPr>
            <a:r>
              <a:rPr sz="750" b="0">
                <a:solidFill>
                  <a:srgbClr val="70858D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8247760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819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2FE846-BD6C-449E-A81C-2263304F4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91D7BD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91D7BD"/>
                </a:solidFill>
              </a:defRPr>
            </a:pPr>
            <a:r>
              <a:rPr sz="900" b="1">
                <a:solidFill>
                  <a:srgbClr val="91D7BD"/>
                </a:solidFill>
              </a:rPr>
              <a:t>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4D266E-045A-4491-9F9C-C6EB8065F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38150"/>
            <a:ext cx="34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05B"/>
          </a:solidFill>
          <a:ln xmlns:a="http://schemas.openxmlformats.org/drawingml/2006/main" w="0">
            <a:solidFill>
              <a:srgbClr val="3150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2A3900-EB9F-4A9F-9E2C-09E4C5D7E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Evaluation measures planning and numeric faithfulness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049EF1-83D1-45B7-A277-2FF67E34B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B9C8CD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B9C8CD"/>
                </a:solidFill>
              </a:defRPr>
            </a:pPr>
            <a:r>
              <a:rPr sz="1200" b="0">
                <a:solidFill>
                  <a:srgbClr val="B9C8CD"/>
                </a:solidFill>
              </a:rPr>
              <a:t>Deterministic behavior passes 32/32. The live model passes the smoke gate at 14/15.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3BE28A-5B78-4A45-B38F-B1125549D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52625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050" b="1">
                <a:solidFill>
                  <a:srgbClr val="91D7BD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4050" b="1">
                <a:solidFill>
                  <a:srgbClr val="91D7BD"/>
                </a:solidFill>
              </a:defRPr>
            </a:pPr>
            <a:r>
              <a:rPr sz="4050" b="1">
                <a:solidFill>
                  <a:srgbClr val="91D7BD"/>
                </a:solidFill>
              </a:rPr>
              <a:t>32/32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E317FA-7E04-4381-AAB1-4DFFF4450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098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deterministic runs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2DA0DF-15FE-4DB0-AE57-54EB4F504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24175"/>
            <a:ext cx="2143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0">
                <a:solidFill>
                  <a:srgbClr val="BFD0D5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BFD0D5"/>
                </a:solidFill>
              </a:defRPr>
            </a:pPr>
            <a:r>
              <a:rPr sz="975" b="0">
                <a:solidFill>
                  <a:srgbClr val="BFD0D5"/>
                </a:solidFill>
              </a:rPr>
              <a:t>16 cases across missing and full coverage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B6E6B3-E045-49A6-AFCD-0D6AF01B4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05250"/>
            <a:ext cx="85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750" b="1">
                <a:solidFill>
                  <a:srgbClr val="91D7BD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750" b="1">
                <a:solidFill>
                  <a:srgbClr val="91D7BD"/>
                </a:solidFill>
              </a:defRPr>
            </a:pPr>
            <a:r>
              <a:rPr sz="3750" b="1">
                <a:solidFill>
                  <a:srgbClr val="91D7BD"/>
                </a:solidFill>
              </a:rPr>
              <a:t>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5B6EC4-FD65-45D4-8630-9911D0B13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000500"/>
            <a:ext cx="176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untraceable numbers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7E823A-E4FF-4C64-9F08-6841CD8FD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05375"/>
            <a:ext cx="85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750" b="1">
                <a:solidFill>
                  <a:srgbClr val="91D7BD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750" b="1">
                <a:solidFill>
                  <a:srgbClr val="91D7BD"/>
                </a:solidFill>
              </a:defRPr>
            </a:pPr>
            <a:r>
              <a:rPr sz="3750" b="1">
                <a:solidFill>
                  <a:srgbClr val="91D7BD"/>
                </a:solidFill>
              </a:rPr>
              <a:t>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7A2934-075F-4860-9241-C39F0B43E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000625"/>
            <a:ext cx="176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safety violations</a:t>
            </a:r>
          </a:p>
        </p:txBody>
      </p:sp>
      <p:graphicFrame>
        <p:nvGraphicFramePr>
          <p:cNvPr id="12" name="Chart">
            <a:extLst xmlns:a="http://schemas.openxmlformats.org/drawingml/2006/main">
              <a:ext uri="{FF2B5EF4-FFF2-40B4-BE49-F238E27FC236}">
                <a16:creationId xmlns:a16="http://schemas.microsoft.com/office/drawing/2014/main" id="{17D3CC37-2B1A-4FFC-8203-271DFE21C854}"/>
              </a:ext>
            </a:extLst>
          </p:cNvPr>
          <p:cNvGraphicFramePr/>
          <p:nvPr/>
        </p:nvGraphicFramePr>
        <p:xfrm>
          <a:off xmlns:a="http://schemas.openxmlformats.org/drawingml/2006/main" x="3810000" y="1952625"/>
          <a:ext xmlns:a="http://schemas.openxmlformats.org/drawingml/2006/main" cx="73342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3ee9593890b42d6"/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2AD6A6-302F-4D4B-9AD5-A78DBCABC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733675"/>
            <a:ext cx="733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8A2"/>
          </a:solidFill>
          <a:ln xmlns:a="http://schemas.openxmlformats.org/drawingml/2006/main" w="0">
            <a:solidFill>
              <a:srgbClr val="F2D8A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DA3670-3146-4E55-A67C-221A9B94D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495550"/>
            <a:ext cx="1219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F2D8A2"/>
                </a:solidFill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F2D8A2"/>
                </a:solidFill>
              </a:defRPr>
            </a:pPr>
            <a:r>
              <a:rPr sz="825" b="1">
                <a:solidFill>
                  <a:srgbClr val="F2D8A2"/>
                </a:solidFill>
              </a:rPr>
              <a:t>PASS ≥ 13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062B9C-2214-46F1-A450-50845EE92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5857875"/>
            <a:ext cx="46005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AFC2C8"/>
                </a:solidFill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AFC2C8"/>
                </a:solidFill>
              </a:defRPr>
            </a:pPr>
            <a:r>
              <a:rPr sz="900" b="0">
                <a:solidFill>
                  <a:srgbClr val="AFC2C8"/>
                </a:solidFill>
              </a:rPr>
              <a:t>Groq · openai/gpt-oss-120b · median 0.97s</a:t>
            </a:r>
          </a:p>
        </p:txBody>
      </p:sp>
    </p:spTree>
    <p:extLst>
      <p:ext uri="{BB962C8B-B14F-4D97-AF65-F5344CB8AC3E}">
        <p14:creationId xmlns:p14="http://schemas.microsoft.com/office/powerpoint/2010/main" val="100726913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1E6D599-97F7-49DB-BFD1-53BCB8C86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2B8A68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2B8A68"/>
                </a:solidFill>
              </a:defRPr>
            </a:pPr>
            <a:r>
              <a:rPr sz="900" b="1">
                <a:solidFill>
                  <a:srgbClr val="2B8A68"/>
                </a:solidFill>
              </a:rPr>
              <a:t>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21F5F1-ED50-40AC-9803-8EAE1299C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38150"/>
            <a:ext cx="34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DF"/>
          </a:solidFill>
          <a:ln xmlns:a="http://schemas.openxmlformats.org/drawingml/2006/main" w="0">
            <a:solidFill>
              <a:srgbClr val="D9E2D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829016-EF55-4A07-9271-030BA4CA2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10232C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0232C"/>
                </a:solidFill>
              </a:defRPr>
            </a:pPr>
            <a:r>
              <a:rPr sz="2550" b="1">
                <a:solidFill>
                  <a:srgbClr val="10232C"/>
                </a:solidFill>
              </a:rPr>
              <a:t>The lead screen works. The pilot tests business value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6E4A39-8A7B-4499-BF8F-907CF5151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425760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425760"/>
                </a:solidFill>
              </a:defRPr>
            </a:pPr>
            <a:r>
              <a:rPr sz="1200" b="0">
                <a:solidFill>
                  <a:srgbClr val="425760"/>
                </a:solidFill>
              </a:rPr>
              <a:t>The next investment is either safer deployment or richer revenue evidence.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E98EAE-1894-4E0E-BE1F-ACC3E8295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2B8A68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2B8A68"/>
                </a:solidFill>
              </a:defRPr>
            </a:pPr>
            <a:r>
              <a:rPr sz="825" b="1">
                <a:solidFill>
                  <a:srgbClr val="2B8A68"/>
                </a:solidFill>
              </a:rPr>
              <a:t>PROVEN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4B38DE-4A18-4FC6-BF24-917CF9BAD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8A68"/>
          </a:solidFill>
          <a:ln xmlns:a="http://schemas.openxmlformats.org/drawingml/2006/main" w="0">
            <a:solidFill>
              <a:srgbClr val="2B8A6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A1D199-6EAA-41EF-A1A3-CCB35AA95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71700"/>
            <a:ext cx="436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10232C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0232C"/>
                </a:solidFill>
              </a:defRPr>
            </a:pPr>
            <a:r>
              <a:rPr sz="1275" b="1">
                <a:solidFill>
                  <a:srgbClr val="10232C"/>
                </a:solidFill>
              </a:rPr>
              <a:t>Evidence-first answers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2DF83C-39A5-4F1B-8DB5-54F0BD179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47925"/>
            <a:ext cx="436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425760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425760"/>
                </a:solidFill>
              </a:defRPr>
            </a:pPr>
            <a:r>
              <a:rPr sz="1050" b="0">
                <a:solidFill>
                  <a:srgbClr val="425760"/>
                </a:solidFill>
              </a:rPr>
              <a:t>Every number is computed and source-backed.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0456ED-8BD5-4BEC-BE25-900054A24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8A68"/>
          </a:solidFill>
          <a:ln xmlns:a="http://schemas.openxmlformats.org/drawingml/2006/main" w="0">
            <a:solidFill>
              <a:srgbClr val="2B8A6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1FAE73-8860-48A1-A49B-9910D628B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43250"/>
            <a:ext cx="436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10232C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0232C"/>
                </a:solidFill>
              </a:defRPr>
            </a:pPr>
            <a:r>
              <a:rPr sz="1275" b="1">
                <a:solidFill>
                  <a:srgbClr val="10232C"/>
                </a:solidFill>
              </a:rPr>
              <a:t>Generic question routing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4E7937-F99B-4143-A555-62359BD93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19475"/>
            <a:ext cx="436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425760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425760"/>
                </a:solidFill>
              </a:defRPr>
            </a:pPr>
            <a:r>
              <a:rPr sz="1050" b="0">
                <a:solidFill>
                  <a:srgbClr val="425760"/>
                </a:solidFill>
              </a:rPr>
              <a:t>Novel US airports and regions use the same tools.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B93960-A61D-4CD7-8232-196AE1320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8A68"/>
          </a:solidFill>
          <a:ln xmlns:a="http://schemas.openxmlformats.org/drawingml/2006/main" w="0">
            <a:solidFill>
              <a:srgbClr val="2B8A6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33A459-C12C-46C4-B651-CFE8660C5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14800"/>
            <a:ext cx="436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10232C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0232C"/>
                </a:solidFill>
              </a:defRPr>
            </a:pPr>
            <a:r>
              <a:rPr sz="1275" b="1">
                <a:solidFill>
                  <a:srgbClr val="10232C"/>
                </a:solidFill>
              </a:rPr>
              <a:t>Measured fallback behavior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409017-AFDD-4BA0-931A-8C9FD9ADF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91025"/>
            <a:ext cx="436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425760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425760"/>
                </a:solidFill>
              </a:defRPr>
            </a:pPr>
            <a:r>
              <a:rPr sz="1050" b="0">
                <a:solidFill>
                  <a:srgbClr val="425760"/>
                </a:solidFill>
              </a:rPr>
              <a:t>The product keeps working when the model fails.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E4A040-C4B1-4938-A887-3D9D33EE5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8097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D79A33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D79A33"/>
                </a:solidFill>
              </a:defRPr>
            </a:pPr>
            <a:r>
              <a:rPr sz="825" b="1">
                <a:solidFill>
                  <a:srgbClr val="D79A33"/>
                </a:solidFill>
              </a:rPr>
              <a:t>OPEN GAPS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8D9CCD-20F9-410E-9FC3-4618E4160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479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9A33"/>
          </a:solidFill>
          <a:ln xmlns:a="http://schemas.openxmlformats.org/drawingml/2006/main" w="0">
            <a:solidFill>
              <a:srgbClr val="D79A3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BB35FF-5EA3-409D-B2DD-AA27C18EE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71700"/>
            <a:ext cx="436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10232C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0232C"/>
                </a:solidFill>
              </a:defRPr>
            </a:pPr>
            <a:r>
              <a:rPr sz="1275" b="1">
                <a:solidFill>
                  <a:srgbClr val="10232C"/>
                </a:solidFill>
              </a:rPr>
              <a:t>Revenue 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D2E5A4-8B3B-438B-8A25-974462B1A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47925"/>
            <a:ext cx="436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425760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425760"/>
                </a:solidFill>
              </a:defRPr>
            </a:pPr>
            <a:r>
              <a:rPr sz="1050" b="0">
                <a:solidFill>
                  <a:srgbClr val="425760"/>
                </a:solidFill>
              </a:rPr>
              <a:t>FAA CATS data is not installed for real airports.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CDA726-324B-4E91-A895-69D2F281E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194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9A33"/>
          </a:solidFill>
          <a:ln xmlns:a="http://schemas.openxmlformats.org/drawingml/2006/main" w="0">
            <a:solidFill>
              <a:srgbClr val="D79A3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50ED14-D244-43CD-9102-0820AD5BC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43250"/>
            <a:ext cx="436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10232C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0232C"/>
                </a:solidFill>
              </a:defRPr>
            </a:pPr>
            <a:r>
              <a:rPr sz="1275" b="1">
                <a:solidFill>
                  <a:srgbClr val="10232C"/>
                </a:solidFill>
              </a:rPr>
              <a:t>Deployment controls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A77C0B-4224-403C-9210-41A38BB2F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19475"/>
            <a:ext cx="436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425760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425760"/>
                </a:solidFill>
              </a:defRPr>
            </a:pPr>
            <a:r>
              <a:rPr sz="1050" b="0">
                <a:solidFill>
                  <a:srgbClr val="425760"/>
                </a:solidFill>
              </a:rPr>
              <a:t>Localhost has no user auth or rate limiting.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27EB13-E956-4525-AF56-6D7310888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1910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9A33"/>
          </a:solidFill>
          <a:ln xmlns:a="http://schemas.openxmlformats.org/drawingml/2006/main" w="0">
            <a:solidFill>
              <a:srgbClr val="D79A3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8A6CB4-0815-49C7-A946-5070EB40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14800"/>
            <a:ext cx="436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10232C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0232C"/>
                </a:solidFill>
              </a:defRPr>
            </a:pPr>
            <a:r>
              <a:rPr sz="1275" b="1">
                <a:solidFill>
                  <a:srgbClr val="10232C"/>
                </a:solidFill>
              </a:rPr>
              <a:t>Causal capacity diagnosis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D1A3EC-46A3-4EC7-AC58-FF6E5ECCD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391025"/>
            <a:ext cx="436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425760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425760"/>
                </a:solidFill>
              </a:defRPr>
            </a:pPr>
            <a:r>
              <a:rPr sz="1050" b="0">
                <a:solidFill>
                  <a:srgbClr val="425760"/>
                </a:solidFill>
              </a:rPr>
              <a:t>Gate 2 still requires airport-specific diligence.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926DCA-2552-4285-9773-195C60B66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95925"/>
            <a:ext cx="108204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81923"/>
          </a:solidFill>
          <a:ln xmlns:a="http://schemas.openxmlformats.org/drawingml/2006/main" w="0">
            <a:solidFill>
              <a:srgbClr val="08192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DEC5E1-0E61-4C9A-A492-2663E1C6F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19750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91D7BD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91D7BD"/>
                </a:solidFill>
              </a:defRPr>
            </a:pPr>
            <a:r>
              <a:rPr sz="975" b="1">
                <a:solidFill>
                  <a:srgbClr val="91D7BD"/>
                </a:solidFill>
              </a:rPr>
              <a:t>Pilot metrics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72AB3C-193D-405C-9F86-6484C240B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5816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Time to shortlist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5B2AEF-E384-4E43-8529-F379C8048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5816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Analyst correction rate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7ED7F8-A9AB-4D46-B988-1B8C32658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5816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Unsupported terminal / profit claims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7956B1D-FCAD-4953-B7AA-C403E36DA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6D2"/>
          </a:solidFill>
          <a:ln xmlns:a="http://schemas.openxmlformats.org/drawingml/2006/main" w="0">
            <a:solidFill>
              <a:srgbClr val="C9D6D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976D70-A515-4CC9-85E8-3B89758C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70858D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0858D"/>
                </a:solidFill>
              </a:defRPr>
            </a:pPr>
            <a:r>
              <a:rPr sz="750" b="0">
                <a:solidFill>
                  <a:srgbClr val="70858D"/>
                </a:solidFill>
              </a:rPr>
              <a:t>Shadow pilot against the current manual workflow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B7CA591-5A4D-4BAE-B1DE-944415312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055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750" b="0">
                <a:solidFill>
                  <a:srgbClr val="70858D"/>
                </a:solidFill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70858D"/>
                </a:solidFill>
              </a:defRPr>
            </a:pPr>
            <a:r>
              <a:rPr sz="750" b="0">
                <a:solidFill>
                  <a:srgbClr val="70858D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644222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2026-10-11T18:31:46.8130000Z</dcterms:created>
  <dcterms:modified xsi:type="dcterms:W3CDTF">2026-10-11T18:31:46.8130000Z</dcterms:modified>
</coreProperties>
</file>